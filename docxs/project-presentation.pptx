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408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65A623-5AEF-6C3A-2586-8E48D3E3C4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1EEE2C4-7553-D450-7EDE-B08AA4D671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04210F-DE30-A957-0559-3A184022CE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75A506-E07D-4A7D-BA87-52C4A51A77D6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79F873-02CE-8492-688F-3923FC942D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AC4BBD-AAD6-7FFD-335A-6EBE0B0D0B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D5F983-53EC-4177-A146-BAF62A4D83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31787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4A5378-FA20-2CA6-1C82-D25A556408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463E52-68B0-1E3C-93EE-A2411813B5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FCB303-2B51-25B3-E736-D9C9B341C5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75A506-E07D-4A7D-BA87-52C4A51A77D6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BB6870-6635-60D2-A2AB-71EF97D40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84E3C1-A809-D322-F465-080CB81834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D5F983-53EC-4177-A146-BAF62A4D83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72454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314FAF-57EB-9823-31B2-B649D7591C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98ADC4-C08F-8309-C0A3-6C8AD213BF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3D5A9F-B029-611D-8933-45D0405627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75A506-E07D-4A7D-BA87-52C4A51A77D6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5B83E6-880A-83C3-BDDE-AC2B3F0AB5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B9E840-46AE-A235-B63D-E859FC9A6D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D5F983-53EC-4177-A146-BAF62A4D83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18980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65CD39-3283-A191-43C8-2F5919956A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0F18AB-34FF-D131-88D3-8795D4F5ACF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B3FCB3-C681-82C8-67D0-75AFF1F264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8695DA-6E2B-4914-D0DD-5551C880CB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75A506-E07D-4A7D-BA87-52C4A51A77D6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CAE26D-2C91-BAC3-164C-3DB4DCCD8C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48212A-22AC-6E25-6848-45165D7856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D5F983-53EC-4177-A146-BAF62A4D83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16764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3EA81F-881B-C753-761D-D153DC5668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3966EA-F237-B1D9-A95A-543C6337D2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B0CA48-5A91-E881-A14D-4D6AE09048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B757035-5C31-7B9C-E283-10C3A1E7B83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27F17B8-A367-D639-5448-079057CC01C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1C83DD7-C112-8D0F-0B32-031F34CEFC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75A506-E07D-4A7D-BA87-52C4A51A77D6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2C128B2-D790-AE0C-BD1D-C8BCA54EC6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24796E8-45C3-DEF4-45A5-3700CB0915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D5F983-53EC-4177-A146-BAF62A4D83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99702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9999FF-A364-15BB-69DC-53CB52E784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9AC1C82-0DBF-AF1B-3FAB-C39295C8FF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75A506-E07D-4A7D-BA87-52C4A51A77D6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8AC766-E368-D498-5E2A-41057CB197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5D3E37-946A-D356-2069-A934A325A0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D5F983-53EC-4177-A146-BAF62A4D83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72284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033F19F-74C2-589B-2B40-97DC495DCE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75A506-E07D-4A7D-BA87-52C4A51A77D6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01CC2DC-CED1-918B-37AF-F0E3663979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0FCF7D-92A8-42A6-F64A-734CFF8594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D5F983-53EC-4177-A146-BAF62A4D83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49747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DB6E1A-D693-F61A-D73C-F8DC6B8288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CFB7A2-AE35-524F-C8DF-8722C55FC0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41EA554-0604-040C-DA24-B83D193A41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D7BDAD-5A66-B1C6-1556-B412DDDC14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75A506-E07D-4A7D-BA87-52C4A51A77D6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B98909-F71F-563D-86A9-392FB5D91D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B8D9F0-A994-FBC1-B976-27A9774B2F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D5F983-53EC-4177-A146-BAF62A4D83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46998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349B2B-64A9-3479-4DB6-8D46E239D3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376D769-11F8-2C94-29B7-F40AE39CE7C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3080F3-D565-0716-3A59-ED77F77C71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8DA339-F991-557E-BE99-FAFE7CC7A3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75A506-E07D-4A7D-BA87-52C4A51A77D6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EC5F67-3293-7036-6B1A-7F0F7471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B40E0A-393A-242B-6C94-F163DA8F46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D5F983-53EC-4177-A146-BAF62A4D83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68381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D2757D-748D-76DD-3946-4D001BE8F5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C4C4E82-2422-BF15-34FD-229B4EB845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21028B-DB41-C05D-785A-0559E03071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75A506-E07D-4A7D-BA87-52C4A51A77D6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8DFC58-F581-A440-F1D9-72FF1EA6BC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E71509-C112-94D5-C00A-4ADB5E6FAB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D5F983-53EC-4177-A146-BAF62A4D83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65566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6814FFC-16C9-006C-3B43-6098B7E1044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33B14C-446D-D88F-C292-9A8EE0315F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36B5CA-953B-6798-01EB-D96EB7770B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75A506-E07D-4A7D-BA87-52C4A51A77D6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A0BF1F-62FB-019E-FCA2-198192E162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27B125-8997-4394-A448-57421BA6C1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D5F983-53EC-4177-A146-BAF62A4D83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11876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00F680F-B75A-997D-8BBD-A64534B597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065242-ECC3-29F5-866A-5D9B5998CC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2036DA-B454-2A91-1B2C-F9A3ED2B42F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75A506-E07D-4A7D-BA87-52C4A51A77D6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931AA5-6E52-0B24-5C97-8AE22BB7DDF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9B913E-1997-C0C3-E9E8-AF4BE2E6EA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D5F983-53EC-4177-A146-BAF62A4D83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05089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883439E-F018-1DCF-D415-2422BBE3013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F386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FC0898A-8DF8-B170-9C67-ADBFC1C66BE7}"/>
              </a:ext>
            </a:extLst>
          </p:cNvPr>
          <p:cNvSpPr/>
          <p:nvPr/>
        </p:nvSpPr>
        <p:spPr>
          <a:xfrm>
            <a:off x="0" y="4826000"/>
            <a:ext cx="12192000" cy="2032000"/>
          </a:xfrm>
          <a:prstGeom prst="rect">
            <a:avLst/>
          </a:prstGeom>
          <a:solidFill>
            <a:srgbClr val="14285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C79FA58-82CC-930A-21F9-F848EFE94821}"/>
              </a:ext>
            </a:extLst>
          </p:cNvPr>
          <p:cNvSpPr txBox="1"/>
          <p:nvPr/>
        </p:nvSpPr>
        <p:spPr>
          <a:xfrm>
            <a:off x="762000" y="1143000"/>
            <a:ext cx="10668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sz="4400" b="1">
                <a:solidFill>
                  <a:srgbClr val="FFFFFF"/>
                </a:solidFill>
              </a:rPr>
              <a:t>AI Resume Analyzer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C7B76A1-8EB7-E404-9259-27C50E59A98A}"/>
              </a:ext>
            </a:extLst>
          </p:cNvPr>
          <p:cNvSpPr txBox="1"/>
          <p:nvPr/>
        </p:nvSpPr>
        <p:spPr>
          <a:xfrm>
            <a:off x="762000" y="2095500"/>
            <a:ext cx="10668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sz="3800">
                <a:solidFill>
                  <a:srgbClr val="96B4FF"/>
                </a:solidFill>
              </a:rPr>
              <a:t>&amp; Job Matcher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1FBBE73-C525-C057-EA28-EBA3F99E96BC}"/>
              </a:ext>
            </a:extLst>
          </p:cNvPr>
          <p:cNvSpPr txBox="1"/>
          <p:nvPr/>
        </p:nvSpPr>
        <p:spPr>
          <a:xfrm>
            <a:off x="762000" y="3048000"/>
            <a:ext cx="10668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>
                <a:solidFill>
                  <a:srgbClr val="B4C8E6"/>
                </a:solidFill>
              </a:rPr>
              <a:t>A Serverless Cloud-Native Application on AWS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AD78713-47F1-A233-12E5-A4267C64D8E3}"/>
              </a:ext>
            </a:extLst>
          </p:cNvPr>
          <p:cNvSpPr txBox="1"/>
          <p:nvPr/>
        </p:nvSpPr>
        <p:spPr>
          <a:xfrm>
            <a:off x="762000" y="5080000"/>
            <a:ext cx="106680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sz="1400">
                <a:solidFill>
                  <a:srgbClr val="96AAC8"/>
                </a:solidFill>
              </a:rPr>
              <a:t>CSCI 5411 – Advanced Cloud Architecting  |  Summer 2026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9FDE17F-069A-EADD-F95B-081B5A5DE43A}"/>
              </a:ext>
            </a:extLst>
          </p:cNvPr>
          <p:cNvSpPr txBox="1"/>
          <p:nvPr/>
        </p:nvSpPr>
        <p:spPr>
          <a:xfrm>
            <a:off x="762000" y="5524500"/>
            <a:ext cx="106680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sz="1400">
                <a:solidFill>
                  <a:srgbClr val="96AAC8"/>
                </a:solidFill>
              </a:rPr>
              <a:t>Dhrutiben Narendrabhai Patel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4E6ECF6-A587-065A-D0D7-9A653E601490}"/>
              </a:ext>
            </a:extLst>
          </p:cNvPr>
          <p:cNvSpPr txBox="1"/>
          <p:nvPr/>
        </p:nvSpPr>
        <p:spPr>
          <a:xfrm>
            <a:off x="762000" y="5969000"/>
            <a:ext cx="10668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sz="1100">
                <a:solidFill>
                  <a:srgbClr val="788CAA"/>
                </a:solidFill>
              </a:rPr>
              <a:t>Lambda  •  Step Functions  •  DynamoDB  •  S3  •  Textract  •  Cognito  •  SNS  •  Terraform</a:t>
            </a:r>
          </a:p>
        </p:txBody>
      </p:sp>
    </p:spTree>
    <p:extLst>
      <p:ext uri="{BB962C8B-B14F-4D97-AF65-F5344CB8AC3E}">
        <p14:creationId xmlns:p14="http://schemas.microsoft.com/office/powerpoint/2010/main" val="39364793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776F8D1-9936-E695-F1BD-7F894FA49666}"/>
              </a:ext>
            </a:extLst>
          </p:cNvPr>
          <p:cNvSpPr/>
          <p:nvPr/>
        </p:nvSpPr>
        <p:spPr>
          <a:xfrm>
            <a:off x="0" y="0"/>
            <a:ext cx="12192000" cy="1016000"/>
          </a:xfrm>
          <a:prstGeom prst="rect">
            <a:avLst/>
          </a:prstGeom>
          <a:solidFill>
            <a:srgbClr val="1F386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D914F77-05B8-A8B8-16B3-8EB30514E7F0}"/>
              </a:ext>
            </a:extLst>
          </p:cNvPr>
          <p:cNvSpPr txBox="1"/>
          <p:nvPr/>
        </p:nvSpPr>
        <p:spPr>
          <a:xfrm>
            <a:off x="508000" y="190500"/>
            <a:ext cx="11176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2800" b="1">
                <a:solidFill>
                  <a:srgbClr val="FFFFFF"/>
                </a:solidFill>
              </a:rPr>
              <a:t>The Problem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C35ADE7-57A7-CDF2-863C-55B824F24029}"/>
              </a:ext>
            </a:extLst>
          </p:cNvPr>
          <p:cNvSpPr txBox="1"/>
          <p:nvPr/>
        </p:nvSpPr>
        <p:spPr>
          <a:xfrm>
            <a:off x="508000" y="1270000"/>
            <a:ext cx="11176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2000" b="1">
                <a:solidFill>
                  <a:srgbClr val="1F3864"/>
                </a:solidFill>
              </a:rPr>
              <a:t>Manual Resume Screening is Broken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2EB004F-0438-29C6-CCC9-1F96EC437EC1}"/>
              </a:ext>
            </a:extLst>
          </p:cNvPr>
          <p:cNvSpPr txBox="1"/>
          <p:nvPr/>
        </p:nvSpPr>
        <p:spPr>
          <a:xfrm>
            <a:off x="762000" y="1905000"/>
            <a:ext cx="10922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500">
                <a:solidFill>
                  <a:srgbClr val="C0392B"/>
                </a:solidFill>
              </a:rPr>
              <a:t>✗  Recruiters spend 6–8 seconds per resume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22BED7A-644A-47B9-43F0-A56C65F85BA8}"/>
              </a:ext>
            </a:extLst>
          </p:cNvPr>
          <p:cNvSpPr txBox="1"/>
          <p:nvPr/>
        </p:nvSpPr>
        <p:spPr>
          <a:xfrm>
            <a:off x="762000" y="2540000"/>
            <a:ext cx="10922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500">
                <a:solidFill>
                  <a:srgbClr val="C0392B"/>
                </a:solidFill>
              </a:rPr>
              <a:t>✗  No objective scoring — purely subjective judgement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DA9EBAE-3D89-824B-D9A3-9B9737529D25}"/>
              </a:ext>
            </a:extLst>
          </p:cNvPr>
          <p:cNvSpPr txBox="1"/>
          <p:nvPr/>
        </p:nvSpPr>
        <p:spPr>
          <a:xfrm>
            <a:off x="762000" y="3175000"/>
            <a:ext cx="10922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500">
                <a:solidFill>
                  <a:srgbClr val="C0392B"/>
                </a:solidFill>
              </a:rPr>
              <a:t>✗  Students get zero feedback on why they were rejected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C000AD6-98AF-3DB2-A2CA-A88391ED40DF}"/>
              </a:ext>
            </a:extLst>
          </p:cNvPr>
          <p:cNvSpPr txBox="1"/>
          <p:nvPr/>
        </p:nvSpPr>
        <p:spPr>
          <a:xfrm>
            <a:off x="762000" y="3810000"/>
            <a:ext cx="10922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500">
                <a:solidFill>
                  <a:srgbClr val="C0392B"/>
                </a:solidFill>
              </a:rPr>
              <a:t>✗  High volume makes thorough review impossible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584B973-6CCB-9753-19F1-D4599317038E}"/>
              </a:ext>
            </a:extLst>
          </p:cNvPr>
          <p:cNvSpPr/>
          <p:nvPr/>
        </p:nvSpPr>
        <p:spPr>
          <a:xfrm>
            <a:off x="762000" y="4572000"/>
            <a:ext cx="10668000" cy="25400"/>
          </a:xfrm>
          <a:prstGeom prst="rect">
            <a:avLst/>
          </a:prstGeom>
          <a:solidFill>
            <a:srgbClr val="DCDCD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A97B64B-9EB8-B403-414C-EBE7CC364D70}"/>
              </a:ext>
            </a:extLst>
          </p:cNvPr>
          <p:cNvSpPr txBox="1"/>
          <p:nvPr/>
        </p:nvSpPr>
        <p:spPr>
          <a:xfrm>
            <a:off x="762000" y="4762500"/>
            <a:ext cx="25400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400" b="1">
                <a:solidFill>
                  <a:srgbClr val="1F3864"/>
                </a:solidFill>
              </a:rPr>
              <a:t>Our Solution: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CF5C95A-4E5E-1053-0958-9BE246314F16}"/>
              </a:ext>
            </a:extLst>
          </p:cNvPr>
          <p:cNvSpPr txBox="1"/>
          <p:nvPr/>
        </p:nvSpPr>
        <p:spPr>
          <a:xfrm>
            <a:off x="762000" y="5016500"/>
            <a:ext cx="10668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400">
                <a:solidFill>
                  <a:srgbClr val="2E4057"/>
                </a:solidFill>
              </a:rPr>
              <a:t>AI-powered, automated, serverless resume scoring — instant match scores, skill gap analysis, and ranked candidate lists.</a:t>
            </a:r>
          </a:p>
        </p:txBody>
      </p:sp>
    </p:spTree>
    <p:extLst>
      <p:ext uri="{BB962C8B-B14F-4D97-AF65-F5344CB8AC3E}">
        <p14:creationId xmlns:p14="http://schemas.microsoft.com/office/powerpoint/2010/main" val="11003021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E0344B7-52D6-77BB-A858-2C91B6F4E0AC}"/>
              </a:ext>
            </a:extLst>
          </p:cNvPr>
          <p:cNvSpPr/>
          <p:nvPr/>
        </p:nvSpPr>
        <p:spPr>
          <a:xfrm>
            <a:off x="0" y="0"/>
            <a:ext cx="12192000" cy="1016000"/>
          </a:xfrm>
          <a:prstGeom prst="rect">
            <a:avLst/>
          </a:prstGeom>
          <a:solidFill>
            <a:srgbClr val="1F386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279737D-9BA8-8BD1-6440-6A881B25D546}"/>
              </a:ext>
            </a:extLst>
          </p:cNvPr>
          <p:cNvSpPr txBox="1"/>
          <p:nvPr/>
        </p:nvSpPr>
        <p:spPr>
          <a:xfrm>
            <a:off x="508000" y="190500"/>
            <a:ext cx="11176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2800" b="1">
                <a:solidFill>
                  <a:srgbClr val="FFFFFF"/>
                </a:solidFill>
              </a:rPr>
              <a:t>Solution Overview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31EDC18-454D-3763-684B-C5F97A628576}"/>
              </a:ext>
            </a:extLst>
          </p:cNvPr>
          <p:cNvSpPr/>
          <p:nvPr/>
        </p:nvSpPr>
        <p:spPr>
          <a:xfrm>
            <a:off x="762000" y="1397000"/>
            <a:ext cx="3429000" cy="2159000"/>
          </a:xfrm>
          <a:prstGeom prst="rect">
            <a:avLst/>
          </a:prstGeom>
          <a:solidFill>
            <a:srgbClr val="2980B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771BDC5-5472-80D8-DE61-957FE27DF980}"/>
              </a:ext>
            </a:extLst>
          </p:cNvPr>
          <p:cNvSpPr txBox="1"/>
          <p:nvPr/>
        </p:nvSpPr>
        <p:spPr>
          <a:xfrm>
            <a:off x="952500" y="1587500"/>
            <a:ext cx="30480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400" b="1">
                <a:solidFill>
                  <a:srgbClr val="FFFFFF"/>
                </a:solidFill>
              </a:rPr>
              <a:t>Student Portal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3590332-31D4-BA65-AF6F-D4B166F24F73}"/>
              </a:ext>
            </a:extLst>
          </p:cNvPr>
          <p:cNvSpPr txBox="1"/>
          <p:nvPr/>
        </p:nvSpPr>
        <p:spPr>
          <a:xfrm>
            <a:off x="952500" y="2032000"/>
            <a:ext cx="3048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100">
                <a:solidFill>
                  <a:srgbClr val="FFFFFF"/>
                </a:solidFill>
              </a:rPr>
              <a:t>Upload resume PDF against any job. Get AI match score, skill gaps, strengths &amp; recommendations instantly.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D6923AA-89F6-792C-4F36-9CB82D298CA3}"/>
              </a:ext>
            </a:extLst>
          </p:cNvPr>
          <p:cNvSpPr/>
          <p:nvPr/>
        </p:nvSpPr>
        <p:spPr>
          <a:xfrm>
            <a:off x="4508500" y="1397000"/>
            <a:ext cx="3429000" cy="2159000"/>
          </a:xfrm>
          <a:prstGeom prst="rect">
            <a:avLst/>
          </a:prstGeom>
          <a:solidFill>
            <a:srgbClr val="27AE6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A8FC378-9247-1C9D-9477-35A0A22F0767}"/>
              </a:ext>
            </a:extLst>
          </p:cNvPr>
          <p:cNvSpPr txBox="1"/>
          <p:nvPr/>
        </p:nvSpPr>
        <p:spPr>
          <a:xfrm>
            <a:off x="4699000" y="1587500"/>
            <a:ext cx="30480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400" b="1">
                <a:solidFill>
                  <a:srgbClr val="FFFFFF"/>
                </a:solidFill>
              </a:rPr>
              <a:t>Recruiter Portal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0B307B2-CDC8-B900-FA2F-8871EA81CCBA}"/>
              </a:ext>
            </a:extLst>
          </p:cNvPr>
          <p:cNvSpPr txBox="1"/>
          <p:nvPr/>
        </p:nvSpPr>
        <p:spPr>
          <a:xfrm>
            <a:off x="4699000" y="2032000"/>
            <a:ext cx="3048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100">
                <a:solidFill>
                  <a:srgbClr val="FFFFFF"/>
                </a:solidFill>
              </a:rPr>
              <a:t>Post jobs, bulk-upload resumes, view ranked candidates with score charts and skill analytics.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F537798-735E-4EFD-B5B8-6AEF8C562959}"/>
              </a:ext>
            </a:extLst>
          </p:cNvPr>
          <p:cNvSpPr/>
          <p:nvPr/>
        </p:nvSpPr>
        <p:spPr>
          <a:xfrm>
            <a:off x="8255000" y="1397000"/>
            <a:ext cx="3429000" cy="2159000"/>
          </a:xfrm>
          <a:prstGeom prst="rect">
            <a:avLst/>
          </a:prstGeom>
          <a:solidFill>
            <a:srgbClr val="8E44A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915F32A-BA75-5F7A-1338-A75A869A2422}"/>
              </a:ext>
            </a:extLst>
          </p:cNvPr>
          <p:cNvSpPr txBox="1"/>
          <p:nvPr/>
        </p:nvSpPr>
        <p:spPr>
          <a:xfrm>
            <a:off x="8445500" y="1587500"/>
            <a:ext cx="30480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400" b="1">
                <a:solidFill>
                  <a:srgbClr val="FFFFFF"/>
                </a:solidFill>
              </a:rPr>
              <a:t>AI Pipeline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F7C9FB4-3649-012C-DC7F-C8BB8A4E9E85}"/>
              </a:ext>
            </a:extLst>
          </p:cNvPr>
          <p:cNvSpPr txBox="1"/>
          <p:nvPr/>
        </p:nvSpPr>
        <p:spPr>
          <a:xfrm>
            <a:off x="8445500" y="2032000"/>
            <a:ext cx="3048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100">
                <a:solidFill>
                  <a:srgbClr val="FFFFFF"/>
                </a:solidFill>
              </a:rPr>
              <a:t>Textract extracts text → Hugging Face LLM scores the resume → results stored in DynamoDB.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CCA2F43-B20F-D364-9314-14A1BE4761DB}"/>
              </a:ext>
            </a:extLst>
          </p:cNvPr>
          <p:cNvSpPr/>
          <p:nvPr/>
        </p:nvSpPr>
        <p:spPr>
          <a:xfrm>
            <a:off x="762000" y="3937000"/>
            <a:ext cx="3429000" cy="2159000"/>
          </a:xfrm>
          <a:prstGeom prst="rect">
            <a:avLst/>
          </a:prstGeom>
          <a:solidFill>
            <a:srgbClr val="E67E2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9CBF9BB-7EAC-8B79-6ABA-070F2A1C1940}"/>
              </a:ext>
            </a:extLst>
          </p:cNvPr>
          <p:cNvSpPr txBox="1"/>
          <p:nvPr/>
        </p:nvSpPr>
        <p:spPr>
          <a:xfrm>
            <a:off x="952500" y="4127500"/>
            <a:ext cx="30480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400" b="1">
                <a:solidFill>
                  <a:srgbClr val="FFFFFF"/>
                </a:solidFill>
              </a:rPr>
              <a:t>Serverless Infra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17E24E1-84FE-F97C-C5C7-6BCC64411113}"/>
              </a:ext>
            </a:extLst>
          </p:cNvPr>
          <p:cNvSpPr txBox="1"/>
          <p:nvPr/>
        </p:nvSpPr>
        <p:spPr>
          <a:xfrm>
            <a:off x="952500" y="4572000"/>
            <a:ext cx="3048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100">
                <a:solidFill>
                  <a:srgbClr val="FFFFFF"/>
                </a:solidFill>
              </a:rPr>
              <a:t>Zero idle cost. Lambda + Step Functions + API Gateway auto-scale to match any load.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D212B30-C5F7-7633-4F01-8CDAF0787374}"/>
              </a:ext>
            </a:extLst>
          </p:cNvPr>
          <p:cNvSpPr/>
          <p:nvPr/>
        </p:nvSpPr>
        <p:spPr>
          <a:xfrm>
            <a:off x="4508500" y="3937000"/>
            <a:ext cx="3429000" cy="2159000"/>
          </a:xfrm>
          <a:prstGeom prst="rect">
            <a:avLst/>
          </a:prstGeom>
          <a:solidFill>
            <a:srgbClr val="C0392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4BBCC59-1BBA-A78B-F521-C23C7B2402B8}"/>
              </a:ext>
            </a:extLst>
          </p:cNvPr>
          <p:cNvSpPr txBox="1"/>
          <p:nvPr/>
        </p:nvSpPr>
        <p:spPr>
          <a:xfrm>
            <a:off x="4699000" y="4127500"/>
            <a:ext cx="30480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400" b="1">
                <a:solidFill>
                  <a:srgbClr val="FFFFFF"/>
                </a:solidFill>
              </a:rPr>
              <a:t>Security First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663B67B-979A-4A75-7945-CA1609FF7E7E}"/>
              </a:ext>
            </a:extLst>
          </p:cNvPr>
          <p:cNvSpPr txBox="1"/>
          <p:nvPr/>
        </p:nvSpPr>
        <p:spPr>
          <a:xfrm>
            <a:off x="4699000" y="4572000"/>
            <a:ext cx="3048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100">
                <a:solidFill>
                  <a:srgbClr val="FFFFFF"/>
                </a:solidFill>
              </a:rPr>
              <a:t>Cognito JWT auth, role-based access, Secrets Manager for API keys, security headers on all responses.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A1FCAC4-F31D-DFCB-093C-045DD3EF40DD}"/>
              </a:ext>
            </a:extLst>
          </p:cNvPr>
          <p:cNvSpPr/>
          <p:nvPr/>
        </p:nvSpPr>
        <p:spPr>
          <a:xfrm>
            <a:off x="8255000" y="3937000"/>
            <a:ext cx="3429000" cy="2159000"/>
          </a:xfrm>
          <a:prstGeom prst="rect">
            <a:avLst/>
          </a:prstGeom>
          <a:solidFill>
            <a:srgbClr val="16A08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DB71E51-F867-8B07-ADB9-C8ED65B7A3BE}"/>
              </a:ext>
            </a:extLst>
          </p:cNvPr>
          <p:cNvSpPr txBox="1"/>
          <p:nvPr/>
        </p:nvSpPr>
        <p:spPr>
          <a:xfrm>
            <a:off x="8445500" y="4127500"/>
            <a:ext cx="30480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400" b="1">
                <a:solidFill>
                  <a:srgbClr val="FFFFFF"/>
                </a:solidFill>
              </a:rPr>
              <a:t>Full CI/CD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BB9862D-28F7-1B29-CBC3-CA636CA75D97}"/>
              </a:ext>
            </a:extLst>
          </p:cNvPr>
          <p:cNvSpPr txBox="1"/>
          <p:nvPr/>
        </p:nvSpPr>
        <p:spPr>
          <a:xfrm>
            <a:off x="8445500" y="4572000"/>
            <a:ext cx="3048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100">
                <a:solidFill>
                  <a:srgbClr val="FFFFFF"/>
                </a:solidFill>
              </a:rPr>
              <a:t>GitHub Actions: 71 unit tests gate every Terraform deploy. One push = tested + deployed.</a:t>
            </a:r>
          </a:p>
        </p:txBody>
      </p:sp>
    </p:spTree>
    <p:extLst>
      <p:ext uri="{BB962C8B-B14F-4D97-AF65-F5344CB8AC3E}">
        <p14:creationId xmlns:p14="http://schemas.microsoft.com/office/powerpoint/2010/main" val="28200650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E04BFBA-94F0-3CFE-4B47-484D511ABBA1}"/>
              </a:ext>
            </a:extLst>
          </p:cNvPr>
          <p:cNvSpPr/>
          <p:nvPr/>
        </p:nvSpPr>
        <p:spPr>
          <a:xfrm>
            <a:off x="0" y="0"/>
            <a:ext cx="12192000" cy="1016000"/>
          </a:xfrm>
          <a:prstGeom prst="rect">
            <a:avLst/>
          </a:prstGeom>
          <a:solidFill>
            <a:srgbClr val="1F386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EB30006-8973-A086-5C3B-489C42346B13}"/>
              </a:ext>
            </a:extLst>
          </p:cNvPr>
          <p:cNvSpPr txBox="1"/>
          <p:nvPr/>
        </p:nvSpPr>
        <p:spPr>
          <a:xfrm>
            <a:off x="508000" y="190500"/>
            <a:ext cx="11176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2800" b="1">
                <a:solidFill>
                  <a:srgbClr val="FFFFFF"/>
                </a:solidFill>
              </a:rPr>
              <a:t>System Architecture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E328DE9-EFA6-DFC0-4B8B-B1B404D8539B}"/>
              </a:ext>
            </a:extLst>
          </p:cNvPr>
          <p:cNvSpPr txBox="1"/>
          <p:nvPr/>
        </p:nvSpPr>
        <p:spPr>
          <a:xfrm>
            <a:off x="381000" y="1079500"/>
            <a:ext cx="11430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900">
                <a:solidFill>
                  <a:srgbClr val="1F3864"/>
                </a:solidFill>
              </a:rPr>
              <a:t>Browser (Student / Recruiter)
          │
          ▼
API Gateway HTTP API  ──JWT Authorizer──►  Cognito User Pool
          │                                (students / recruiters)
    ┌─────┴──────────────────────────┐
    │  POST /upload   GET /jobs      │
    │  GET /results   POST /jobs     │
    │  GET /my-results               │
    └─────┬──────────────────────────┘
          │
    Lambda Functions
          ├─ createUploadUrl ──► S3 Presigned URL ──► Resume S3 Bucket
          │                      (seeds DynamoDB: status=pending)
          │
          ├─ S3 Event ──► ingestUpload ──► Step Functions Pipeline
          │                                    │
          │                         ExtractText (Textract)
          │                              │
          │                         ParseScore (HF LLM via Secrets Mgr)
          │                              │
          │                         NotifyResult (SNS email)
          │                              │ [on error]
          │                         MarkFailed (DynamoDB) ──► SNS Alert
          │
          ├─ queryApi ──► DynamoDB (ResultsTable / JobsTable)
          └─ getRankedResults ──► DynamoDB GSI (sorted by score)
CloudWatch: 10 Alarms on all Lambdas + Step Functions + DynamoDB</a:t>
            </a:r>
          </a:p>
        </p:txBody>
      </p:sp>
    </p:spTree>
    <p:extLst>
      <p:ext uri="{BB962C8B-B14F-4D97-AF65-F5344CB8AC3E}">
        <p14:creationId xmlns:p14="http://schemas.microsoft.com/office/powerpoint/2010/main" val="552140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9A0F62D-15F3-DB6B-5A0A-4235A041BD19}"/>
              </a:ext>
            </a:extLst>
          </p:cNvPr>
          <p:cNvSpPr/>
          <p:nvPr/>
        </p:nvSpPr>
        <p:spPr>
          <a:xfrm>
            <a:off x="0" y="0"/>
            <a:ext cx="12192000" cy="1016000"/>
          </a:xfrm>
          <a:prstGeom prst="rect">
            <a:avLst/>
          </a:prstGeom>
          <a:solidFill>
            <a:srgbClr val="1F386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9765020-30CA-2EE2-5928-F141F24D5568}"/>
              </a:ext>
            </a:extLst>
          </p:cNvPr>
          <p:cNvSpPr txBox="1"/>
          <p:nvPr/>
        </p:nvSpPr>
        <p:spPr>
          <a:xfrm>
            <a:off x="508000" y="190500"/>
            <a:ext cx="11176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2800" b="1">
                <a:solidFill>
                  <a:srgbClr val="FFFFFF"/>
                </a:solidFill>
              </a:rPr>
              <a:t>AWS Services Used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DFD1390-1826-D171-3CA3-A0D42A771F87}"/>
              </a:ext>
            </a:extLst>
          </p:cNvPr>
          <p:cNvSpPr/>
          <p:nvPr/>
        </p:nvSpPr>
        <p:spPr>
          <a:xfrm>
            <a:off x="381000" y="1206500"/>
            <a:ext cx="127000" cy="698500"/>
          </a:xfrm>
          <a:prstGeom prst="rect">
            <a:avLst/>
          </a:prstGeom>
          <a:solidFill>
            <a:srgbClr val="2980B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BD031EC-15B2-FCB1-933E-5FB75ABA387F}"/>
              </a:ext>
            </a:extLst>
          </p:cNvPr>
          <p:cNvSpPr txBox="1"/>
          <p:nvPr/>
        </p:nvSpPr>
        <p:spPr>
          <a:xfrm>
            <a:off x="609600" y="1244600"/>
            <a:ext cx="3556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900" b="1">
                <a:solidFill>
                  <a:srgbClr val="646464"/>
                </a:solidFill>
              </a:rPr>
              <a:t>Compute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B9D39D9-23A4-B07E-7A75-696BE61A33FF}"/>
              </a:ext>
            </a:extLst>
          </p:cNvPr>
          <p:cNvSpPr txBox="1"/>
          <p:nvPr/>
        </p:nvSpPr>
        <p:spPr>
          <a:xfrm>
            <a:off x="609600" y="1460500"/>
            <a:ext cx="3556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100" b="1">
                <a:solidFill>
                  <a:srgbClr val="1F3864"/>
                </a:solidFill>
              </a:rPr>
              <a:t>AWS Lambda (Node.js 20.x)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9D4E249-8B5B-B4D6-0B6D-3C0E00217A49}"/>
              </a:ext>
            </a:extLst>
          </p:cNvPr>
          <p:cNvSpPr txBox="1"/>
          <p:nvPr/>
        </p:nvSpPr>
        <p:spPr>
          <a:xfrm>
            <a:off x="609600" y="1676400"/>
            <a:ext cx="3556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900">
                <a:solidFill>
                  <a:srgbClr val="2E4057"/>
                </a:solidFill>
              </a:rPr>
              <a:t>Zero idle cost, event-driven, scales automatically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723F387-32AF-CC0E-1502-2C654FFD2537}"/>
              </a:ext>
            </a:extLst>
          </p:cNvPr>
          <p:cNvSpPr/>
          <p:nvPr/>
        </p:nvSpPr>
        <p:spPr>
          <a:xfrm>
            <a:off x="4318000" y="1206500"/>
            <a:ext cx="127000" cy="698500"/>
          </a:xfrm>
          <a:prstGeom prst="rect">
            <a:avLst/>
          </a:prstGeom>
          <a:solidFill>
            <a:srgbClr val="2980B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FA937D1-137E-06D2-1B7D-544A7B7D3AB7}"/>
              </a:ext>
            </a:extLst>
          </p:cNvPr>
          <p:cNvSpPr txBox="1"/>
          <p:nvPr/>
        </p:nvSpPr>
        <p:spPr>
          <a:xfrm>
            <a:off x="4546600" y="1244600"/>
            <a:ext cx="3556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900" b="1">
                <a:solidFill>
                  <a:srgbClr val="646464"/>
                </a:solidFill>
              </a:rPr>
              <a:t>Orchestration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94AA22B-E962-EAFF-3784-0240CD31C708}"/>
              </a:ext>
            </a:extLst>
          </p:cNvPr>
          <p:cNvSpPr txBox="1"/>
          <p:nvPr/>
        </p:nvSpPr>
        <p:spPr>
          <a:xfrm>
            <a:off x="4546600" y="1460500"/>
            <a:ext cx="3556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100" b="1">
                <a:solidFill>
                  <a:srgbClr val="1F3864"/>
                </a:solidFill>
              </a:rPr>
              <a:t>AWS Step Functions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E36BFC7-D381-23A9-5EB1-4A58C9643EEC}"/>
              </a:ext>
            </a:extLst>
          </p:cNvPr>
          <p:cNvSpPr txBox="1"/>
          <p:nvPr/>
        </p:nvSpPr>
        <p:spPr>
          <a:xfrm>
            <a:off x="4546600" y="1676400"/>
            <a:ext cx="3556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900">
                <a:solidFill>
                  <a:srgbClr val="2E4057"/>
                </a:solidFill>
              </a:rPr>
              <a:t>Retry logic, error handling, visual execution graph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AC7C89D-A943-3BFD-B249-935BDCEB1B5A}"/>
              </a:ext>
            </a:extLst>
          </p:cNvPr>
          <p:cNvSpPr/>
          <p:nvPr/>
        </p:nvSpPr>
        <p:spPr>
          <a:xfrm>
            <a:off x="8255000" y="1206500"/>
            <a:ext cx="127000" cy="698500"/>
          </a:xfrm>
          <a:prstGeom prst="rect">
            <a:avLst/>
          </a:prstGeom>
          <a:solidFill>
            <a:srgbClr val="2980B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F9496B1-BF09-973F-7536-F0FFDEB80294}"/>
              </a:ext>
            </a:extLst>
          </p:cNvPr>
          <p:cNvSpPr txBox="1"/>
          <p:nvPr/>
        </p:nvSpPr>
        <p:spPr>
          <a:xfrm>
            <a:off x="8483600" y="1244600"/>
            <a:ext cx="3556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900" b="1">
                <a:solidFill>
                  <a:srgbClr val="646464"/>
                </a:solidFill>
              </a:rPr>
              <a:t>API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C5B4C4C-C3D7-81BC-4D9E-DBEEC90AD877}"/>
              </a:ext>
            </a:extLst>
          </p:cNvPr>
          <p:cNvSpPr txBox="1"/>
          <p:nvPr/>
        </p:nvSpPr>
        <p:spPr>
          <a:xfrm>
            <a:off x="8483600" y="1460500"/>
            <a:ext cx="3556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100" b="1">
                <a:solidFill>
                  <a:srgbClr val="1F3864"/>
                </a:solidFill>
              </a:rPr>
              <a:t>API Gateway HTTP API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57779C0-7473-3311-9FC6-9BC6D919408B}"/>
              </a:ext>
            </a:extLst>
          </p:cNvPr>
          <p:cNvSpPr txBox="1"/>
          <p:nvPr/>
        </p:nvSpPr>
        <p:spPr>
          <a:xfrm>
            <a:off x="8483600" y="1676400"/>
            <a:ext cx="3556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900">
                <a:solidFill>
                  <a:srgbClr val="2E4057"/>
                </a:solidFill>
              </a:rPr>
              <a:t>JWT authorizer, 70% cheaper than REST API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F13FBFB-B053-37E4-0DB9-534C0DE88593}"/>
              </a:ext>
            </a:extLst>
          </p:cNvPr>
          <p:cNvSpPr/>
          <p:nvPr/>
        </p:nvSpPr>
        <p:spPr>
          <a:xfrm>
            <a:off x="381000" y="2133600"/>
            <a:ext cx="127000" cy="698500"/>
          </a:xfrm>
          <a:prstGeom prst="rect">
            <a:avLst/>
          </a:prstGeom>
          <a:solidFill>
            <a:srgbClr val="27AE6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10D723D-6BD7-0CF5-0966-ABEF57C9A2CF}"/>
              </a:ext>
            </a:extLst>
          </p:cNvPr>
          <p:cNvSpPr txBox="1"/>
          <p:nvPr/>
        </p:nvSpPr>
        <p:spPr>
          <a:xfrm>
            <a:off x="609600" y="2171700"/>
            <a:ext cx="3556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900" b="1">
                <a:solidFill>
                  <a:srgbClr val="646464"/>
                </a:solidFill>
              </a:rPr>
              <a:t>Storage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3EDAAE7-0C82-A271-3139-33EB81ADD418}"/>
              </a:ext>
            </a:extLst>
          </p:cNvPr>
          <p:cNvSpPr txBox="1"/>
          <p:nvPr/>
        </p:nvSpPr>
        <p:spPr>
          <a:xfrm>
            <a:off x="609600" y="2387600"/>
            <a:ext cx="3556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100" b="1">
                <a:solidFill>
                  <a:srgbClr val="1F3864"/>
                </a:solidFill>
              </a:rPr>
              <a:t>Amazon S3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E3E4719-4192-FA78-EC1B-A5A9631200B7}"/>
              </a:ext>
            </a:extLst>
          </p:cNvPr>
          <p:cNvSpPr txBox="1"/>
          <p:nvPr/>
        </p:nvSpPr>
        <p:spPr>
          <a:xfrm>
            <a:off x="609600" y="2603500"/>
            <a:ext cx="3556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900">
                <a:solidFill>
                  <a:srgbClr val="2E4057"/>
                </a:solidFill>
              </a:rPr>
              <a:t>Resume upload/download, 11-nines durability, versioning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5357703-8B2A-20CB-BA2B-4F87273B28FC}"/>
              </a:ext>
            </a:extLst>
          </p:cNvPr>
          <p:cNvSpPr/>
          <p:nvPr/>
        </p:nvSpPr>
        <p:spPr>
          <a:xfrm>
            <a:off x="4318000" y="2133600"/>
            <a:ext cx="127000" cy="698500"/>
          </a:xfrm>
          <a:prstGeom prst="rect">
            <a:avLst/>
          </a:prstGeom>
          <a:solidFill>
            <a:srgbClr val="27AE6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C51844C-C6D6-0A34-D9C4-ACF84D33870D}"/>
              </a:ext>
            </a:extLst>
          </p:cNvPr>
          <p:cNvSpPr txBox="1"/>
          <p:nvPr/>
        </p:nvSpPr>
        <p:spPr>
          <a:xfrm>
            <a:off x="4546600" y="2171700"/>
            <a:ext cx="3556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900" b="1">
                <a:solidFill>
                  <a:srgbClr val="646464"/>
                </a:solidFill>
              </a:rPr>
              <a:t>Database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08E99B1-99C9-B6D0-63F8-3F306B296242}"/>
              </a:ext>
            </a:extLst>
          </p:cNvPr>
          <p:cNvSpPr txBox="1"/>
          <p:nvPr/>
        </p:nvSpPr>
        <p:spPr>
          <a:xfrm>
            <a:off x="4546600" y="2387600"/>
            <a:ext cx="3556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100" b="1">
                <a:solidFill>
                  <a:srgbClr val="1F3864"/>
                </a:solidFill>
              </a:rPr>
              <a:t>Amazon DynamoDB (on-demand)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BD66843-FB87-5654-901B-69F47A22A3AD}"/>
              </a:ext>
            </a:extLst>
          </p:cNvPr>
          <p:cNvSpPr txBox="1"/>
          <p:nvPr/>
        </p:nvSpPr>
        <p:spPr>
          <a:xfrm>
            <a:off x="4546600" y="2603500"/>
            <a:ext cx="3556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900">
                <a:solidFill>
                  <a:srgbClr val="2E4057"/>
                </a:solidFill>
              </a:rPr>
              <a:t>GSIs for sorted queries, zero capacity planning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43DF7AE-A861-67ED-C636-F7EEE13E833F}"/>
              </a:ext>
            </a:extLst>
          </p:cNvPr>
          <p:cNvSpPr/>
          <p:nvPr/>
        </p:nvSpPr>
        <p:spPr>
          <a:xfrm>
            <a:off x="8255000" y="2133600"/>
            <a:ext cx="127000" cy="698500"/>
          </a:xfrm>
          <a:prstGeom prst="rect">
            <a:avLst/>
          </a:prstGeom>
          <a:solidFill>
            <a:srgbClr val="27AE6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512560C-EC36-6155-9596-0223D6C48731}"/>
              </a:ext>
            </a:extLst>
          </p:cNvPr>
          <p:cNvSpPr txBox="1"/>
          <p:nvPr/>
        </p:nvSpPr>
        <p:spPr>
          <a:xfrm>
            <a:off x="8483600" y="2171700"/>
            <a:ext cx="3556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900" b="1">
                <a:solidFill>
                  <a:srgbClr val="646464"/>
                </a:solidFill>
              </a:rPr>
              <a:t>AI — OCR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5923719-A8C5-B6C3-07D7-CFDB1281581B}"/>
              </a:ext>
            </a:extLst>
          </p:cNvPr>
          <p:cNvSpPr txBox="1"/>
          <p:nvPr/>
        </p:nvSpPr>
        <p:spPr>
          <a:xfrm>
            <a:off x="8483600" y="2387600"/>
            <a:ext cx="3556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100" b="1">
                <a:solidFill>
                  <a:srgbClr val="1F3864"/>
                </a:solidFill>
              </a:rPr>
              <a:t>Amazon Textract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0C34C2D-AF6A-548A-DA46-DAB1C1BEEEF6}"/>
              </a:ext>
            </a:extLst>
          </p:cNvPr>
          <p:cNvSpPr txBox="1"/>
          <p:nvPr/>
        </p:nvSpPr>
        <p:spPr>
          <a:xfrm>
            <a:off x="8483600" y="2603500"/>
            <a:ext cx="3556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900">
                <a:solidFill>
                  <a:srgbClr val="2E4057"/>
                </a:solidFill>
              </a:rPr>
              <a:t>Handles complex PDF layouts, tables, multi-column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CD94484-8E8A-5A29-5A2E-27DFB84439FF}"/>
              </a:ext>
            </a:extLst>
          </p:cNvPr>
          <p:cNvSpPr/>
          <p:nvPr/>
        </p:nvSpPr>
        <p:spPr>
          <a:xfrm>
            <a:off x="381000" y="3060700"/>
            <a:ext cx="127000" cy="698500"/>
          </a:xfrm>
          <a:prstGeom prst="rect">
            <a:avLst/>
          </a:prstGeom>
          <a:solidFill>
            <a:srgbClr val="8E44A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6EB76D5-08FA-FB05-96B3-6F7D99A30E15}"/>
              </a:ext>
            </a:extLst>
          </p:cNvPr>
          <p:cNvSpPr txBox="1"/>
          <p:nvPr/>
        </p:nvSpPr>
        <p:spPr>
          <a:xfrm>
            <a:off x="609600" y="3098800"/>
            <a:ext cx="3556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900" b="1">
                <a:solidFill>
                  <a:srgbClr val="646464"/>
                </a:solidFill>
              </a:rPr>
              <a:t>AI — Scoring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B789480-57E7-4DE9-8E0C-6CCC1BD4B874}"/>
              </a:ext>
            </a:extLst>
          </p:cNvPr>
          <p:cNvSpPr txBox="1"/>
          <p:nvPr/>
        </p:nvSpPr>
        <p:spPr>
          <a:xfrm>
            <a:off x="609600" y="3314700"/>
            <a:ext cx="3556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100" b="1">
                <a:solidFill>
                  <a:srgbClr val="1F3864"/>
                </a:solidFill>
              </a:rPr>
              <a:t>Hugging Face (Qwen2.5-7B)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77177C1-8853-3903-55A9-65B149BE0301}"/>
              </a:ext>
            </a:extLst>
          </p:cNvPr>
          <p:cNvSpPr txBox="1"/>
          <p:nvPr/>
        </p:nvSpPr>
        <p:spPr>
          <a:xfrm>
            <a:off x="609600" y="3530600"/>
            <a:ext cx="3556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900">
                <a:solidFill>
                  <a:srgbClr val="2E4057"/>
                </a:solidFill>
              </a:rPr>
              <a:t>LLM scoring (Bedrock unavailable in Learner Lab)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62BF86CF-AFF2-E926-4D5D-C4E905BD0096}"/>
              </a:ext>
            </a:extLst>
          </p:cNvPr>
          <p:cNvSpPr/>
          <p:nvPr/>
        </p:nvSpPr>
        <p:spPr>
          <a:xfrm>
            <a:off x="4318000" y="3060700"/>
            <a:ext cx="127000" cy="698500"/>
          </a:xfrm>
          <a:prstGeom prst="rect">
            <a:avLst/>
          </a:prstGeom>
          <a:solidFill>
            <a:srgbClr val="8E44A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744D8AF-79B4-6645-424E-28943E278DAC}"/>
              </a:ext>
            </a:extLst>
          </p:cNvPr>
          <p:cNvSpPr txBox="1"/>
          <p:nvPr/>
        </p:nvSpPr>
        <p:spPr>
          <a:xfrm>
            <a:off x="4546600" y="3098800"/>
            <a:ext cx="3556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900" b="1">
                <a:solidFill>
                  <a:srgbClr val="646464"/>
                </a:solidFill>
              </a:rPr>
              <a:t>Auth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EC785EE-45DC-0B8F-4B32-A91E8BCCC345}"/>
              </a:ext>
            </a:extLst>
          </p:cNvPr>
          <p:cNvSpPr txBox="1"/>
          <p:nvPr/>
        </p:nvSpPr>
        <p:spPr>
          <a:xfrm>
            <a:off x="4546600" y="3314700"/>
            <a:ext cx="3556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100" b="1">
                <a:solidFill>
                  <a:srgbClr val="1F3864"/>
                </a:solidFill>
              </a:rPr>
              <a:t>Amazon Cognito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B4D3484-FDFA-8F3E-07B4-74E967F134F7}"/>
              </a:ext>
            </a:extLst>
          </p:cNvPr>
          <p:cNvSpPr txBox="1"/>
          <p:nvPr/>
        </p:nvSpPr>
        <p:spPr>
          <a:xfrm>
            <a:off x="4546600" y="3530600"/>
            <a:ext cx="3556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900">
                <a:solidFill>
                  <a:srgbClr val="2E4057"/>
                </a:solidFill>
              </a:rPr>
              <a:t>Hosted UI, JWT tokens, student/recruiter groups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313F94B7-F10D-BBF1-C6F7-EBA3D7802967}"/>
              </a:ext>
            </a:extLst>
          </p:cNvPr>
          <p:cNvSpPr/>
          <p:nvPr/>
        </p:nvSpPr>
        <p:spPr>
          <a:xfrm>
            <a:off x="8255000" y="3060700"/>
            <a:ext cx="127000" cy="698500"/>
          </a:xfrm>
          <a:prstGeom prst="rect">
            <a:avLst/>
          </a:prstGeom>
          <a:solidFill>
            <a:srgbClr val="8E44A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E1FA993-F4B6-74C3-DEEC-5A62F83710A2}"/>
              </a:ext>
            </a:extLst>
          </p:cNvPr>
          <p:cNvSpPr txBox="1"/>
          <p:nvPr/>
        </p:nvSpPr>
        <p:spPr>
          <a:xfrm>
            <a:off x="8483600" y="3098800"/>
            <a:ext cx="3556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900" b="1">
                <a:solidFill>
                  <a:srgbClr val="646464"/>
                </a:solidFill>
              </a:rPr>
              <a:t>Secrets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185B23B-1FD0-3B67-6EC0-83A37FE06E8A}"/>
              </a:ext>
            </a:extLst>
          </p:cNvPr>
          <p:cNvSpPr txBox="1"/>
          <p:nvPr/>
        </p:nvSpPr>
        <p:spPr>
          <a:xfrm>
            <a:off x="8483600" y="3314700"/>
            <a:ext cx="3556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100" b="1">
                <a:solidFill>
                  <a:srgbClr val="1F3864"/>
                </a:solidFill>
              </a:rPr>
              <a:t>AWS Secrets Manager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C5F8CEA-157B-E337-E7D0-EE18BB55B172}"/>
              </a:ext>
            </a:extLst>
          </p:cNvPr>
          <p:cNvSpPr txBox="1"/>
          <p:nvPr/>
        </p:nvSpPr>
        <p:spPr>
          <a:xfrm>
            <a:off x="8483600" y="3530600"/>
            <a:ext cx="3556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900">
                <a:solidFill>
                  <a:srgbClr val="2E4057"/>
                </a:solidFill>
              </a:rPr>
              <a:t>HF API token — never in code or IaC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A6144DEA-A369-C61C-E28F-833833D16654}"/>
              </a:ext>
            </a:extLst>
          </p:cNvPr>
          <p:cNvSpPr/>
          <p:nvPr/>
        </p:nvSpPr>
        <p:spPr>
          <a:xfrm>
            <a:off x="381000" y="3987800"/>
            <a:ext cx="127000" cy="698500"/>
          </a:xfrm>
          <a:prstGeom prst="rect">
            <a:avLst/>
          </a:prstGeom>
          <a:solidFill>
            <a:srgbClr val="E67E2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872C6D7-0F66-46E1-351B-5F3E896B3B7D}"/>
              </a:ext>
            </a:extLst>
          </p:cNvPr>
          <p:cNvSpPr txBox="1"/>
          <p:nvPr/>
        </p:nvSpPr>
        <p:spPr>
          <a:xfrm>
            <a:off x="609600" y="4025900"/>
            <a:ext cx="3556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900" b="1">
                <a:solidFill>
                  <a:srgbClr val="646464"/>
                </a:solidFill>
              </a:rPr>
              <a:t>Messaging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CDC3011-E128-6960-A33A-96404C2A6946}"/>
              </a:ext>
            </a:extLst>
          </p:cNvPr>
          <p:cNvSpPr txBox="1"/>
          <p:nvPr/>
        </p:nvSpPr>
        <p:spPr>
          <a:xfrm>
            <a:off x="609600" y="4241800"/>
            <a:ext cx="3556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100" b="1">
                <a:solidFill>
                  <a:srgbClr val="1F3864"/>
                </a:solidFill>
              </a:rPr>
              <a:t>Amazon SNS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66A8B8D-2830-51A5-06FF-D4ED9B1F1F1F}"/>
              </a:ext>
            </a:extLst>
          </p:cNvPr>
          <p:cNvSpPr txBox="1"/>
          <p:nvPr/>
        </p:nvSpPr>
        <p:spPr>
          <a:xfrm>
            <a:off x="609600" y="4457700"/>
            <a:ext cx="3556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900">
                <a:solidFill>
                  <a:srgbClr val="2E4057"/>
                </a:solidFill>
              </a:rPr>
              <a:t>Email alerts on completion and pipeline errors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761E3330-C798-2968-34B3-B305FC03D0E8}"/>
              </a:ext>
            </a:extLst>
          </p:cNvPr>
          <p:cNvSpPr/>
          <p:nvPr/>
        </p:nvSpPr>
        <p:spPr>
          <a:xfrm>
            <a:off x="4318000" y="3987800"/>
            <a:ext cx="127000" cy="698500"/>
          </a:xfrm>
          <a:prstGeom prst="rect">
            <a:avLst/>
          </a:prstGeom>
          <a:solidFill>
            <a:srgbClr val="E67E2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990D50B-A4FD-B2A7-16A3-19A9A874A280}"/>
              </a:ext>
            </a:extLst>
          </p:cNvPr>
          <p:cNvSpPr txBox="1"/>
          <p:nvPr/>
        </p:nvSpPr>
        <p:spPr>
          <a:xfrm>
            <a:off x="4546600" y="4025900"/>
            <a:ext cx="3556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900" b="1">
                <a:solidFill>
                  <a:srgbClr val="646464"/>
                </a:solidFill>
              </a:rPr>
              <a:t>Monitoring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A1410E4B-6795-2329-385C-CDBBAEC5853E}"/>
              </a:ext>
            </a:extLst>
          </p:cNvPr>
          <p:cNvSpPr txBox="1"/>
          <p:nvPr/>
        </p:nvSpPr>
        <p:spPr>
          <a:xfrm>
            <a:off x="4546600" y="4241800"/>
            <a:ext cx="3556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100" b="1">
                <a:solidFill>
                  <a:srgbClr val="1F3864"/>
                </a:solidFill>
              </a:rPr>
              <a:t>CloudWatch Alarms (10 total)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D8FE80F-3521-BAFA-35C6-4F3DE10C4CA2}"/>
              </a:ext>
            </a:extLst>
          </p:cNvPr>
          <p:cNvSpPr txBox="1"/>
          <p:nvPr/>
        </p:nvSpPr>
        <p:spPr>
          <a:xfrm>
            <a:off x="4546600" y="4457700"/>
            <a:ext cx="3556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900">
                <a:solidFill>
                  <a:srgbClr val="2E4057"/>
                </a:solidFill>
              </a:rPr>
              <a:t>All Lambdas + Step Functions + DynamoDB throttles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6C891801-191A-D879-D645-A4ED65308C38}"/>
              </a:ext>
            </a:extLst>
          </p:cNvPr>
          <p:cNvSpPr/>
          <p:nvPr/>
        </p:nvSpPr>
        <p:spPr>
          <a:xfrm>
            <a:off x="8255000" y="3987800"/>
            <a:ext cx="127000" cy="698500"/>
          </a:xfrm>
          <a:prstGeom prst="rect">
            <a:avLst/>
          </a:prstGeom>
          <a:solidFill>
            <a:srgbClr val="E67E2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4C10514A-CCF9-AB29-0FD2-3B193A6A9B8A}"/>
              </a:ext>
            </a:extLst>
          </p:cNvPr>
          <p:cNvSpPr txBox="1"/>
          <p:nvPr/>
        </p:nvSpPr>
        <p:spPr>
          <a:xfrm>
            <a:off x="8483600" y="4025900"/>
            <a:ext cx="3556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900" b="1">
                <a:solidFill>
                  <a:srgbClr val="646464"/>
                </a:solidFill>
              </a:rPr>
              <a:t>IaC / CI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16357576-F3C1-24D7-E165-AC7464502AA9}"/>
              </a:ext>
            </a:extLst>
          </p:cNvPr>
          <p:cNvSpPr txBox="1"/>
          <p:nvPr/>
        </p:nvSpPr>
        <p:spPr>
          <a:xfrm>
            <a:off x="8483600" y="4241800"/>
            <a:ext cx="3556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100" b="1">
                <a:solidFill>
                  <a:srgbClr val="1F3864"/>
                </a:solidFill>
              </a:rPr>
              <a:t>Terraform + GitHub Actions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EB976FE7-5091-510A-C68B-FD748FC2A653}"/>
              </a:ext>
            </a:extLst>
          </p:cNvPr>
          <p:cNvSpPr txBox="1"/>
          <p:nvPr/>
        </p:nvSpPr>
        <p:spPr>
          <a:xfrm>
            <a:off x="8483600" y="4457700"/>
            <a:ext cx="3556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900">
                <a:solidFill>
                  <a:srgbClr val="2E4057"/>
                </a:solidFill>
              </a:rPr>
              <a:t>Full infra-as-code, test-gated automated deploy</a:t>
            </a:r>
          </a:p>
        </p:txBody>
      </p:sp>
    </p:spTree>
    <p:extLst>
      <p:ext uri="{BB962C8B-B14F-4D97-AF65-F5344CB8AC3E}">
        <p14:creationId xmlns:p14="http://schemas.microsoft.com/office/powerpoint/2010/main" val="15868371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2C306D5-FFC1-1C78-7CA1-34A0161CED6D}"/>
              </a:ext>
            </a:extLst>
          </p:cNvPr>
          <p:cNvSpPr/>
          <p:nvPr/>
        </p:nvSpPr>
        <p:spPr>
          <a:xfrm>
            <a:off x="0" y="0"/>
            <a:ext cx="12192000" cy="1016000"/>
          </a:xfrm>
          <a:prstGeom prst="rect">
            <a:avLst/>
          </a:prstGeom>
          <a:solidFill>
            <a:srgbClr val="1F386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A8F9691-2942-F3B4-6D29-90DA4D8FB39C}"/>
              </a:ext>
            </a:extLst>
          </p:cNvPr>
          <p:cNvSpPr txBox="1"/>
          <p:nvPr/>
        </p:nvSpPr>
        <p:spPr>
          <a:xfrm>
            <a:off x="508000" y="190500"/>
            <a:ext cx="11176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2800" b="1">
                <a:solidFill>
                  <a:srgbClr val="FFFFFF"/>
                </a:solidFill>
              </a:rPr>
              <a:t>Student Portal — End-to-End Flow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B8C636B-8DBF-6CAA-8A1D-EEC690F6C1C4}"/>
              </a:ext>
            </a:extLst>
          </p:cNvPr>
          <p:cNvSpPr/>
          <p:nvPr/>
        </p:nvSpPr>
        <p:spPr>
          <a:xfrm>
            <a:off x="508000" y="1333500"/>
            <a:ext cx="635000" cy="762000"/>
          </a:xfrm>
          <a:prstGeom prst="rect">
            <a:avLst/>
          </a:prstGeom>
          <a:solidFill>
            <a:srgbClr val="2980B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2150983-F66A-ADF1-72B8-34FDA6B3E41E}"/>
              </a:ext>
            </a:extLst>
          </p:cNvPr>
          <p:cNvSpPr txBox="1"/>
          <p:nvPr/>
        </p:nvSpPr>
        <p:spPr>
          <a:xfrm>
            <a:off x="508000" y="1524000"/>
            <a:ext cx="6350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sz="20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6E238CB-DBB2-AD57-6BCE-44269D8EF37F}"/>
              </a:ext>
            </a:extLst>
          </p:cNvPr>
          <p:cNvSpPr txBox="1"/>
          <p:nvPr/>
        </p:nvSpPr>
        <p:spPr>
          <a:xfrm>
            <a:off x="1333500" y="1371600"/>
            <a:ext cx="2540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200" b="1">
                <a:solidFill>
                  <a:srgbClr val="1F3864"/>
                </a:solidFill>
              </a:rPr>
              <a:t>Login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07F05B0-919F-8292-D54E-7990F35D7E23}"/>
              </a:ext>
            </a:extLst>
          </p:cNvPr>
          <p:cNvSpPr txBox="1"/>
          <p:nvPr/>
        </p:nvSpPr>
        <p:spPr>
          <a:xfrm>
            <a:off x="1333500" y="1638300"/>
            <a:ext cx="102870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000">
                <a:solidFill>
                  <a:srgbClr val="2E4057"/>
                </a:solidFill>
              </a:rPr>
              <a:t>Cognito Hosted UI authenticates student, issues JWT token with 'students' group claim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707F93C-D480-39CF-34F0-C095D1DB7AEE}"/>
              </a:ext>
            </a:extLst>
          </p:cNvPr>
          <p:cNvSpPr/>
          <p:nvPr/>
        </p:nvSpPr>
        <p:spPr>
          <a:xfrm>
            <a:off x="508000" y="2286000"/>
            <a:ext cx="635000" cy="762000"/>
          </a:xfrm>
          <a:prstGeom prst="rect">
            <a:avLst/>
          </a:prstGeom>
          <a:solidFill>
            <a:srgbClr val="27AE6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E8872A7-1B5C-163F-CAE9-51F22A95CD04}"/>
              </a:ext>
            </a:extLst>
          </p:cNvPr>
          <p:cNvSpPr txBox="1"/>
          <p:nvPr/>
        </p:nvSpPr>
        <p:spPr>
          <a:xfrm>
            <a:off x="508000" y="2476500"/>
            <a:ext cx="6350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sz="20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99FDA4F-9909-D091-41A4-690714229B22}"/>
              </a:ext>
            </a:extLst>
          </p:cNvPr>
          <p:cNvSpPr txBox="1"/>
          <p:nvPr/>
        </p:nvSpPr>
        <p:spPr>
          <a:xfrm>
            <a:off x="1333500" y="2324100"/>
            <a:ext cx="2540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200" b="1">
                <a:solidFill>
                  <a:srgbClr val="1F3864"/>
                </a:solidFill>
              </a:rPr>
              <a:t>Select Job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8489586-7939-843F-D899-9DBFCC475853}"/>
              </a:ext>
            </a:extLst>
          </p:cNvPr>
          <p:cNvSpPr txBox="1"/>
          <p:nvPr/>
        </p:nvSpPr>
        <p:spPr>
          <a:xfrm>
            <a:off x="1333500" y="2590800"/>
            <a:ext cx="102870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000">
                <a:solidFill>
                  <a:srgbClr val="2E4057"/>
                </a:solidFill>
              </a:rPr>
              <a:t>Student picks from posted jobs or pastes a custom job description for scoring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596FFB2-363B-0588-DC77-6F08781E1135}"/>
              </a:ext>
            </a:extLst>
          </p:cNvPr>
          <p:cNvSpPr/>
          <p:nvPr/>
        </p:nvSpPr>
        <p:spPr>
          <a:xfrm>
            <a:off x="508000" y="3238500"/>
            <a:ext cx="635000" cy="762000"/>
          </a:xfrm>
          <a:prstGeom prst="rect">
            <a:avLst/>
          </a:prstGeom>
          <a:solidFill>
            <a:srgbClr val="8E44A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0719A31-BBF4-4B56-6B20-E118A0ADA212}"/>
              </a:ext>
            </a:extLst>
          </p:cNvPr>
          <p:cNvSpPr txBox="1"/>
          <p:nvPr/>
        </p:nvSpPr>
        <p:spPr>
          <a:xfrm>
            <a:off x="508000" y="3429000"/>
            <a:ext cx="6350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sz="20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96B135A-7004-48F2-86E8-25AA77E58772}"/>
              </a:ext>
            </a:extLst>
          </p:cNvPr>
          <p:cNvSpPr txBox="1"/>
          <p:nvPr/>
        </p:nvSpPr>
        <p:spPr>
          <a:xfrm>
            <a:off x="1333500" y="3276600"/>
            <a:ext cx="2540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200" b="1">
                <a:solidFill>
                  <a:srgbClr val="1F3864"/>
                </a:solidFill>
              </a:rPr>
              <a:t>Upload Resume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D661C32-FFAE-8AA9-812C-8D8620A24E29}"/>
              </a:ext>
            </a:extLst>
          </p:cNvPr>
          <p:cNvSpPr txBox="1"/>
          <p:nvPr/>
        </p:nvSpPr>
        <p:spPr>
          <a:xfrm>
            <a:off x="1333500" y="3543300"/>
            <a:ext cx="102870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000">
                <a:solidFill>
                  <a:srgbClr val="2E4057"/>
                </a:solidFill>
              </a:rPr>
              <a:t>Browser puts PDF directly to S3 via presigned URL — no Lambda size limit. DynamoDB seeded: status=pending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ADDBDBF-155A-02D5-E588-C8120D727346}"/>
              </a:ext>
            </a:extLst>
          </p:cNvPr>
          <p:cNvSpPr/>
          <p:nvPr/>
        </p:nvSpPr>
        <p:spPr>
          <a:xfrm>
            <a:off x="508000" y="4191000"/>
            <a:ext cx="635000" cy="762000"/>
          </a:xfrm>
          <a:prstGeom prst="rect">
            <a:avLst/>
          </a:prstGeom>
          <a:solidFill>
            <a:srgbClr val="E67E2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2414EE8-E034-4773-3416-8BDD6B4EB1FF}"/>
              </a:ext>
            </a:extLst>
          </p:cNvPr>
          <p:cNvSpPr txBox="1"/>
          <p:nvPr/>
        </p:nvSpPr>
        <p:spPr>
          <a:xfrm>
            <a:off x="508000" y="4381500"/>
            <a:ext cx="6350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sz="20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72C5745-BB1F-932A-1073-5D66F61F1978}"/>
              </a:ext>
            </a:extLst>
          </p:cNvPr>
          <p:cNvSpPr txBox="1"/>
          <p:nvPr/>
        </p:nvSpPr>
        <p:spPr>
          <a:xfrm>
            <a:off x="1333500" y="4229100"/>
            <a:ext cx="2540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200" b="1">
                <a:solidFill>
                  <a:srgbClr val="1F3864"/>
                </a:solidFill>
              </a:rPr>
              <a:t>AI Pipeline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1F3C165-346B-328E-0C4E-582777D2A494}"/>
              </a:ext>
            </a:extLst>
          </p:cNvPr>
          <p:cNvSpPr txBox="1"/>
          <p:nvPr/>
        </p:nvSpPr>
        <p:spPr>
          <a:xfrm>
            <a:off x="1333500" y="4495800"/>
            <a:ext cx="102870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000">
                <a:solidFill>
                  <a:srgbClr val="2E4057"/>
                </a:solidFill>
              </a:rPr>
              <a:t>S3 triggers ingestUpload → Step Functions: Textract extracts text → HF LLM scores → SNS email sent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4D2857A-A130-121E-D98A-2E16C9650E01}"/>
              </a:ext>
            </a:extLst>
          </p:cNvPr>
          <p:cNvSpPr/>
          <p:nvPr/>
        </p:nvSpPr>
        <p:spPr>
          <a:xfrm>
            <a:off x="508000" y="5143500"/>
            <a:ext cx="635000" cy="762000"/>
          </a:xfrm>
          <a:prstGeom prst="rect">
            <a:avLst/>
          </a:prstGeom>
          <a:solidFill>
            <a:srgbClr val="C0392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B7DC261-480B-1780-FF48-8DF7B28D4A41}"/>
              </a:ext>
            </a:extLst>
          </p:cNvPr>
          <p:cNvSpPr txBox="1"/>
          <p:nvPr/>
        </p:nvSpPr>
        <p:spPr>
          <a:xfrm>
            <a:off x="508000" y="5334000"/>
            <a:ext cx="6350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sz="20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AA6C2EC-CEBB-6F5C-60C3-2F7F3EA7D8D5}"/>
              </a:ext>
            </a:extLst>
          </p:cNvPr>
          <p:cNvSpPr txBox="1"/>
          <p:nvPr/>
        </p:nvSpPr>
        <p:spPr>
          <a:xfrm>
            <a:off x="1333500" y="5181600"/>
            <a:ext cx="2540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200" b="1">
                <a:solidFill>
                  <a:srgbClr val="1F3864"/>
                </a:solidFill>
              </a:rPr>
              <a:t>View Results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570A9EC-8DBB-9956-9B9F-74981D729D45}"/>
              </a:ext>
            </a:extLst>
          </p:cNvPr>
          <p:cNvSpPr txBox="1"/>
          <p:nvPr/>
        </p:nvSpPr>
        <p:spPr>
          <a:xfrm>
            <a:off x="1333500" y="5448300"/>
            <a:ext cx="102870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000">
                <a:solidFill>
                  <a:srgbClr val="2E4057"/>
                </a:solidFill>
              </a:rPr>
              <a:t>UI polls every 5s (up to 5min). Score 0-100, matched skills, strengths, gaps, recommendations displayed</a:t>
            </a:r>
          </a:p>
        </p:txBody>
      </p:sp>
    </p:spTree>
    <p:extLst>
      <p:ext uri="{BB962C8B-B14F-4D97-AF65-F5344CB8AC3E}">
        <p14:creationId xmlns:p14="http://schemas.microsoft.com/office/powerpoint/2010/main" val="24981265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0F96EC9-7603-7D8B-F41B-F06060F14EAD}"/>
              </a:ext>
            </a:extLst>
          </p:cNvPr>
          <p:cNvSpPr/>
          <p:nvPr/>
        </p:nvSpPr>
        <p:spPr>
          <a:xfrm>
            <a:off x="0" y="0"/>
            <a:ext cx="12192000" cy="1016000"/>
          </a:xfrm>
          <a:prstGeom prst="rect">
            <a:avLst/>
          </a:prstGeom>
          <a:solidFill>
            <a:srgbClr val="1F386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85B0FE7-F4D7-F1A7-B726-B87709B15D32}"/>
              </a:ext>
            </a:extLst>
          </p:cNvPr>
          <p:cNvSpPr txBox="1"/>
          <p:nvPr/>
        </p:nvSpPr>
        <p:spPr>
          <a:xfrm>
            <a:off x="508000" y="190500"/>
            <a:ext cx="11176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2800" b="1">
                <a:solidFill>
                  <a:srgbClr val="FFFFFF"/>
                </a:solidFill>
              </a:rPr>
              <a:t>Recruiter Portal — Features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358C9F7-1E4B-0570-0201-93CE942DDF2E}"/>
              </a:ext>
            </a:extLst>
          </p:cNvPr>
          <p:cNvSpPr/>
          <p:nvPr/>
        </p:nvSpPr>
        <p:spPr>
          <a:xfrm>
            <a:off x="381000" y="1270000"/>
            <a:ext cx="5588000" cy="1460500"/>
          </a:xfrm>
          <a:prstGeom prst="rect">
            <a:avLst/>
          </a:prstGeom>
          <a:solidFill>
            <a:srgbClr val="F5F5F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665D332-C3AD-2A6E-70F0-C7B2359DC24B}"/>
              </a:ext>
            </a:extLst>
          </p:cNvPr>
          <p:cNvSpPr/>
          <p:nvPr/>
        </p:nvSpPr>
        <p:spPr>
          <a:xfrm>
            <a:off x="381000" y="1270000"/>
            <a:ext cx="63500" cy="1460500"/>
          </a:xfrm>
          <a:prstGeom prst="rect">
            <a:avLst/>
          </a:prstGeom>
          <a:solidFill>
            <a:srgbClr val="1F386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7CACE77-0379-07FC-1733-E34470F53520}"/>
              </a:ext>
            </a:extLst>
          </p:cNvPr>
          <p:cNvSpPr txBox="1"/>
          <p:nvPr/>
        </p:nvSpPr>
        <p:spPr>
          <a:xfrm>
            <a:off x="635000" y="1422400"/>
            <a:ext cx="5207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300" b="1">
                <a:solidFill>
                  <a:srgbClr val="1F3864"/>
                </a:solidFill>
              </a:rPr>
              <a:t>Post Job Openings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419865E-0A22-17D1-F0E7-3577510C3513}"/>
              </a:ext>
            </a:extLst>
          </p:cNvPr>
          <p:cNvSpPr txBox="1"/>
          <p:nvPr/>
        </p:nvSpPr>
        <p:spPr>
          <a:xfrm>
            <a:off x="635000" y="1778000"/>
            <a:ext cx="5207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100">
                <a:solidFill>
                  <a:srgbClr val="2E4057"/>
                </a:solidFill>
              </a:rPr>
              <a:t>Create jobs with title, description, required skills list, and location. Jobs immediately available for student uploads.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5A4232-4DCB-EE1D-DB34-B78022DAA76C}"/>
              </a:ext>
            </a:extLst>
          </p:cNvPr>
          <p:cNvSpPr/>
          <p:nvPr/>
        </p:nvSpPr>
        <p:spPr>
          <a:xfrm>
            <a:off x="6223000" y="1270000"/>
            <a:ext cx="5588000" cy="1460500"/>
          </a:xfrm>
          <a:prstGeom prst="rect">
            <a:avLst/>
          </a:prstGeom>
          <a:solidFill>
            <a:srgbClr val="F5F5F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B1EA12B-8B99-C979-6605-C543D01B023D}"/>
              </a:ext>
            </a:extLst>
          </p:cNvPr>
          <p:cNvSpPr/>
          <p:nvPr/>
        </p:nvSpPr>
        <p:spPr>
          <a:xfrm>
            <a:off x="6223000" y="1270000"/>
            <a:ext cx="63500" cy="1460500"/>
          </a:xfrm>
          <a:prstGeom prst="rect">
            <a:avLst/>
          </a:prstGeom>
          <a:solidFill>
            <a:srgbClr val="1F386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16ED504-5A35-6B7E-2B8E-923906F7226E}"/>
              </a:ext>
            </a:extLst>
          </p:cNvPr>
          <p:cNvSpPr txBox="1"/>
          <p:nvPr/>
        </p:nvSpPr>
        <p:spPr>
          <a:xfrm>
            <a:off x="6477000" y="1422400"/>
            <a:ext cx="5207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300" b="1">
                <a:solidFill>
                  <a:srgbClr val="1F3864"/>
                </a:solidFill>
              </a:rPr>
              <a:t>Bulk Resume Upload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A6F3415-B3FF-4377-99B7-086A67004AD7}"/>
              </a:ext>
            </a:extLst>
          </p:cNvPr>
          <p:cNvSpPr txBox="1"/>
          <p:nvPr/>
        </p:nvSpPr>
        <p:spPr>
          <a:xfrm>
            <a:off x="6477000" y="1778000"/>
            <a:ext cx="5207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100">
                <a:solidFill>
                  <a:srgbClr val="2E4057"/>
                </a:solidFill>
              </a:rPr>
              <a:t>Drag-and-drop multiple PDFs at once. Each triggers the AI pipeline automatically via S3 event.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C922D3E-558C-69AA-41E7-E26D04F47A6E}"/>
              </a:ext>
            </a:extLst>
          </p:cNvPr>
          <p:cNvSpPr/>
          <p:nvPr/>
        </p:nvSpPr>
        <p:spPr>
          <a:xfrm>
            <a:off x="381000" y="2921000"/>
            <a:ext cx="5588000" cy="1460500"/>
          </a:xfrm>
          <a:prstGeom prst="rect">
            <a:avLst/>
          </a:prstGeom>
          <a:solidFill>
            <a:srgbClr val="F5F5F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F2A8F32-0918-C55E-2AEB-28BFE2DF9F9F}"/>
              </a:ext>
            </a:extLst>
          </p:cNvPr>
          <p:cNvSpPr/>
          <p:nvPr/>
        </p:nvSpPr>
        <p:spPr>
          <a:xfrm>
            <a:off x="381000" y="2921000"/>
            <a:ext cx="63500" cy="1460500"/>
          </a:xfrm>
          <a:prstGeom prst="rect">
            <a:avLst/>
          </a:prstGeom>
          <a:solidFill>
            <a:srgbClr val="1F386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ABDFA5F-CE41-77E3-617F-674B569242F3}"/>
              </a:ext>
            </a:extLst>
          </p:cNvPr>
          <p:cNvSpPr txBox="1"/>
          <p:nvPr/>
        </p:nvSpPr>
        <p:spPr>
          <a:xfrm>
            <a:off x="635000" y="3073400"/>
            <a:ext cx="5207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300" b="1">
                <a:solidFill>
                  <a:srgbClr val="1F3864"/>
                </a:solidFill>
              </a:rPr>
              <a:t>Ranked Candidate View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23F0852-92C0-77AC-B8A5-5603C09869F3}"/>
              </a:ext>
            </a:extLst>
          </p:cNvPr>
          <p:cNvSpPr txBox="1"/>
          <p:nvPr/>
        </p:nvSpPr>
        <p:spPr>
          <a:xfrm>
            <a:off x="635000" y="3429000"/>
            <a:ext cx="5207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100">
                <a:solidFill>
                  <a:srgbClr val="2E4057"/>
                </a:solidFill>
              </a:rPr>
              <a:t>Candidates sorted by match score (highest first) using DynamoDB GSI — no app-level sort needed.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B91C153-2A29-F72F-71FC-47B5031ED2A9}"/>
              </a:ext>
            </a:extLst>
          </p:cNvPr>
          <p:cNvSpPr/>
          <p:nvPr/>
        </p:nvSpPr>
        <p:spPr>
          <a:xfrm>
            <a:off x="6223000" y="2921000"/>
            <a:ext cx="5588000" cy="1460500"/>
          </a:xfrm>
          <a:prstGeom prst="rect">
            <a:avLst/>
          </a:prstGeom>
          <a:solidFill>
            <a:srgbClr val="F5F5F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D909F1F-85C6-53A8-6436-9447550546D6}"/>
              </a:ext>
            </a:extLst>
          </p:cNvPr>
          <p:cNvSpPr/>
          <p:nvPr/>
        </p:nvSpPr>
        <p:spPr>
          <a:xfrm>
            <a:off x="6223000" y="2921000"/>
            <a:ext cx="63500" cy="1460500"/>
          </a:xfrm>
          <a:prstGeom prst="rect">
            <a:avLst/>
          </a:prstGeom>
          <a:solidFill>
            <a:srgbClr val="1F386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AC49923-3018-CAA4-1AD3-34C03DB160E4}"/>
              </a:ext>
            </a:extLst>
          </p:cNvPr>
          <p:cNvSpPr txBox="1"/>
          <p:nvPr/>
        </p:nvSpPr>
        <p:spPr>
          <a:xfrm>
            <a:off x="6477000" y="3073400"/>
            <a:ext cx="5207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300" b="1">
                <a:solidFill>
                  <a:srgbClr val="1F3864"/>
                </a:solidFill>
              </a:rPr>
              <a:t>Visual Analytics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2280D85-C0DF-4D97-5898-4194910C4979}"/>
              </a:ext>
            </a:extLst>
          </p:cNvPr>
          <p:cNvSpPr txBox="1"/>
          <p:nvPr/>
        </p:nvSpPr>
        <p:spPr>
          <a:xfrm>
            <a:off x="6477000" y="3429000"/>
            <a:ext cx="5207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100">
                <a:solidFill>
                  <a:srgbClr val="2E4057"/>
                </a:solidFill>
              </a:rPr>
              <a:t>Score distribution bar chart + top skills frequency chart (Chart.js). Stat cards: total, avg, top score, strong matches ≥70.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BA6EB8B-3039-1D22-8C28-B463105F2DD0}"/>
              </a:ext>
            </a:extLst>
          </p:cNvPr>
          <p:cNvSpPr/>
          <p:nvPr/>
        </p:nvSpPr>
        <p:spPr>
          <a:xfrm>
            <a:off x="381000" y="4572000"/>
            <a:ext cx="5588000" cy="1460500"/>
          </a:xfrm>
          <a:prstGeom prst="rect">
            <a:avLst/>
          </a:prstGeom>
          <a:solidFill>
            <a:srgbClr val="F5F5F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1B623F4-ED15-9658-4077-D30F743D90AA}"/>
              </a:ext>
            </a:extLst>
          </p:cNvPr>
          <p:cNvSpPr/>
          <p:nvPr/>
        </p:nvSpPr>
        <p:spPr>
          <a:xfrm>
            <a:off x="381000" y="4572000"/>
            <a:ext cx="63500" cy="1460500"/>
          </a:xfrm>
          <a:prstGeom prst="rect">
            <a:avLst/>
          </a:prstGeom>
          <a:solidFill>
            <a:srgbClr val="1F386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22C649A-AFAD-749A-8B31-F32576AF346E}"/>
              </a:ext>
            </a:extLst>
          </p:cNvPr>
          <p:cNvSpPr txBox="1"/>
          <p:nvPr/>
        </p:nvSpPr>
        <p:spPr>
          <a:xfrm>
            <a:off x="635000" y="4724400"/>
            <a:ext cx="5207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300" b="1">
                <a:solidFill>
                  <a:srgbClr val="1F3864"/>
                </a:solidFill>
              </a:rPr>
              <a:t>Ownership Enforcement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11E9E93-ECF1-E2FC-4D63-D9E82C8582C8}"/>
              </a:ext>
            </a:extLst>
          </p:cNvPr>
          <p:cNvSpPr txBox="1"/>
          <p:nvPr/>
        </p:nvSpPr>
        <p:spPr>
          <a:xfrm>
            <a:off x="635000" y="5080000"/>
            <a:ext cx="5207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100">
                <a:solidFill>
                  <a:srgbClr val="2E4057"/>
                </a:solidFill>
              </a:rPr>
              <a:t>Recruiter can only see results for jobs they created (ownerId check). 403 returned for other recruiters' jobs.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E972C43-A2E9-0344-39E8-609052219837}"/>
              </a:ext>
            </a:extLst>
          </p:cNvPr>
          <p:cNvSpPr/>
          <p:nvPr/>
        </p:nvSpPr>
        <p:spPr>
          <a:xfrm>
            <a:off x="6223000" y="4572000"/>
            <a:ext cx="5588000" cy="1460500"/>
          </a:xfrm>
          <a:prstGeom prst="rect">
            <a:avLst/>
          </a:prstGeom>
          <a:solidFill>
            <a:srgbClr val="F5F5F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0C25907-333E-1DA6-463C-AF16B28F649A}"/>
              </a:ext>
            </a:extLst>
          </p:cNvPr>
          <p:cNvSpPr/>
          <p:nvPr/>
        </p:nvSpPr>
        <p:spPr>
          <a:xfrm>
            <a:off x="6223000" y="4572000"/>
            <a:ext cx="63500" cy="1460500"/>
          </a:xfrm>
          <a:prstGeom prst="rect">
            <a:avLst/>
          </a:prstGeom>
          <a:solidFill>
            <a:srgbClr val="1F386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9C4C565-D97B-5BB9-136A-E4CB93DD302A}"/>
              </a:ext>
            </a:extLst>
          </p:cNvPr>
          <p:cNvSpPr txBox="1"/>
          <p:nvPr/>
        </p:nvSpPr>
        <p:spPr>
          <a:xfrm>
            <a:off x="6477000" y="4724400"/>
            <a:ext cx="5207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300" b="1">
                <a:solidFill>
                  <a:srgbClr val="1F3864"/>
                </a:solidFill>
              </a:rPr>
              <a:t>Resume Download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9A3AB97-FD4B-C66D-F463-33FF18702821}"/>
              </a:ext>
            </a:extLst>
          </p:cNvPr>
          <p:cNvSpPr txBox="1"/>
          <p:nvPr/>
        </p:nvSpPr>
        <p:spPr>
          <a:xfrm>
            <a:off x="6477000" y="5080000"/>
            <a:ext cx="5207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100">
                <a:solidFill>
                  <a:srgbClr val="2E4057"/>
                </a:solidFill>
              </a:rPr>
              <a:t>Presigned S3 GET URL generated per result — direct secure download of original candidate PDF.</a:t>
            </a:r>
          </a:p>
        </p:txBody>
      </p:sp>
    </p:spTree>
    <p:extLst>
      <p:ext uri="{BB962C8B-B14F-4D97-AF65-F5344CB8AC3E}">
        <p14:creationId xmlns:p14="http://schemas.microsoft.com/office/powerpoint/2010/main" val="512281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0E93FB6-46B4-DD3A-B4BA-0F3A25A695B1}"/>
              </a:ext>
            </a:extLst>
          </p:cNvPr>
          <p:cNvSpPr/>
          <p:nvPr/>
        </p:nvSpPr>
        <p:spPr>
          <a:xfrm>
            <a:off x="0" y="0"/>
            <a:ext cx="12192000" cy="1016000"/>
          </a:xfrm>
          <a:prstGeom prst="rect">
            <a:avLst/>
          </a:prstGeom>
          <a:solidFill>
            <a:srgbClr val="1F386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836983F-0DA8-2D19-8CEC-4F5DB395663D}"/>
              </a:ext>
            </a:extLst>
          </p:cNvPr>
          <p:cNvSpPr txBox="1"/>
          <p:nvPr/>
        </p:nvSpPr>
        <p:spPr>
          <a:xfrm>
            <a:off x="508000" y="190500"/>
            <a:ext cx="11176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2800" b="1">
                <a:solidFill>
                  <a:srgbClr val="FFFFFF"/>
                </a:solidFill>
              </a:rPr>
              <a:t>AI Analysis Pipeline — Step Functions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DE6D02D-5195-E92C-F72F-955BADF9F81C}"/>
              </a:ext>
            </a:extLst>
          </p:cNvPr>
          <p:cNvSpPr txBox="1"/>
          <p:nvPr/>
        </p:nvSpPr>
        <p:spPr>
          <a:xfrm>
            <a:off x="508000" y="1079500"/>
            <a:ext cx="11176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300">
                <a:solidFill>
                  <a:srgbClr val="646464"/>
                </a:solidFill>
              </a:rPr>
              <a:t>Standard Workflow with Retry + Catch on every state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3293D26-0E33-C8F4-5479-158EB4A84683}"/>
              </a:ext>
            </a:extLst>
          </p:cNvPr>
          <p:cNvSpPr/>
          <p:nvPr/>
        </p:nvSpPr>
        <p:spPr>
          <a:xfrm>
            <a:off x="762000" y="1524000"/>
            <a:ext cx="2032000" cy="698500"/>
          </a:xfrm>
          <a:prstGeom prst="rect">
            <a:avLst/>
          </a:prstGeom>
          <a:solidFill>
            <a:srgbClr val="3498D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6ADE3A4-2546-1CB0-9B88-D06AC0AB7FDB}"/>
              </a:ext>
            </a:extLst>
          </p:cNvPr>
          <p:cNvSpPr txBox="1"/>
          <p:nvPr/>
        </p:nvSpPr>
        <p:spPr>
          <a:xfrm>
            <a:off x="825500" y="1625600"/>
            <a:ext cx="1905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sz="1000" b="1">
                <a:solidFill>
                  <a:srgbClr val="FFFFFF"/>
                </a:solidFill>
              </a:rPr>
              <a:t>S3 Upload Trigger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1702D46-0352-4D78-9C45-30769C4B9247}"/>
              </a:ext>
            </a:extLst>
          </p:cNvPr>
          <p:cNvSpPr txBox="1"/>
          <p:nvPr/>
        </p:nvSpPr>
        <p:spPr>
          <a:xfrm>
            <a:off x="3048000" y="1625600"/>
            <a:ext cx="8763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000">
                <a:solidFill>
                  <a:srgbClr val="2E4057"/>
                </a:solidFill>
              </a:rPr>
              <a:t>S3 PutObject event → ingestUpload Lambda → StartExecution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270C80C-AEE9-7AC0-9F33-016EED036301}"/>
              </a:ext>
            </a:extLst>
          </p:cNvPr>
          <p:cNvSpPr txBox="1"/>
          <p:nvPr/>
        </p:nvSpPr>
        <p:spPr>
          <a:xfrm>
            <a:off x="1587500" y="2222500"/>
            <a:ext cx="508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sz="1200">
                <a:solidFill>
                  <a:srgbClr val="1F3864"/>
                </a:solidFill>
              </a:rPr>
              <a:t>▼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6B4484C-1F1D-6A41-9176-14473391E661}"/>
              </a:ext>
            </a:extLst>
          </p:cNvPr>
          <p:cNvSpPr/>
          <p:nvPr/>
        </p:nvSpPr>
        <p:spPr>
          <a:xfrm>
            <a:off x="762000" y="2476500"/>
            <a:ext cx="2032000" cy="698500"/>
          </a:xfrm>
          <a:prstGeom prst="rect">
            <a:avLst/>
          </a:prstGeom>
          <a:solidFill>
            <a:srgbClr val="9B59B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B358D7C-4E74-7D43-BA9A-85658D586837}"/>
              </a:ext>
            </a:extLst>
          </p:cNvPr>
          <p:cNvSpPr txBox="1"/>
          <p:nvPr/>
        </p:nvSpPr>
        <p:spPr>
          <a:xfrm>
            <a:off x="825500" y="2578100"/>
            <a:ext cx="1905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sz="1000" b="1">
                <a:solidFill>
                  <a:srgbClr val="FFFFFF"/>
                </a:solidFill>
              </a:rPr>
              <a:t>ExtractTextStep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4277F1A-1195-6DC3-5446-9901F43F4458}"/>
              </a:ext>
            </a:extLst>
          </p:cNvPr>
          <p:cNvSpPr txBox="1"/>
          <p:nvPr/>
        </p:nvSpPr>
        <p:spPr>
          <a:xfrm>
            <a:off x="3048000" y="2578100"/>
            <a:ext cx="8763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000">
                <a:solidFill>
                  <a:srgbClr val="2E4057"/>
                </a:solidFill>
              </a:rPr>
              <a:t>Textract DetectDocumentText API extracts raw text from PDF. Retry: 2x, 2s backoff.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196E7E4-6F32-5BF5-027C-6854DE1D0F82}"/>
              </a:ext>
            </a:extLst>
          </p:cNvPr>
          <p:cNvSpPr txBox="1"/>
          <p:nvPr/>
        </p:nvSpPr>
        <p:spPr>
          <a:xfrm>
            <a:off x="1587500" y="3175000"/>
            <a:ext cx="508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sz="1200">
                <a:solidFill>
                  <a:srgbClr val="1F3864"/>
                </a:solidFill>
              </a:rPr>
              <a:t>▼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45FDF71-FB9B-8F93-FB66-63EA54F1B8FC}"/>
              </a:ext>
            </a:extLst>
          </p:cNvPr>
          <p:cNvSpPr/>
          <p:nvPr/>
        </p:nvSpPr>
        <p:spPr>
          <a:xfrm>
            <a:off x="762000" y="3429000"/>
            <a:ext cx="2032000" cy="698500"/>
          </a:xfrm>
          <a:prstGeom prst="rect">
            <a:avLst/>
          </a:prstGeom>
          <a:solidFill>
            <a:srgbClr val="27AE6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781366-95DF-91D8-D29D-F1A443FD9BB6}"/>
              </a:ext>
            </a:extLst>
          </p:cNvPr>
          <p:cNvSpPr txBox="1"/>
          <p:nvPr/>
        </p:nvSpPr>
        <p:spPr>
          <a:xfrm>
            <a:off x="825500" y="3530600"/>
            <a:ext cx="1905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sz="1000" b="1">
                <a:solidFill>
                  <a:srgbClr val="FFFFFF"/>
                </a:solidFill>
              </a:rPr>
              <a:t>ParseAndScoreStep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7ED09D7-8BEE-0F6C-EEFA-6E69C7423DCF}"/>
              </a:ext>
            </a:extLst>
          </p:cNvPr>
          <p:cNvSpPr txBox="1"/>
          <p:nvPr/>
        </p:nvSpPr>
        <p:spPr>
          <a:xfrm>
            <a:off x="3048000" y="3530600"/>
            <a:ext cx="8763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000">
                <a:solidFill>
                  <a:srgbClr val="2E4057"/>
                </a:solidFill>
              </a:rPr>
              <a:t>HF Qwen2.5-7B receives job description + resume text → returns JSON: matchScore, skills, strengths, gaps, recommendations.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3631C55-3BBF-B77D-62A0-C7B15CB4D45C}"/>
              </a:ext>
            </a:extLst>
          </p:cNvPr>
          <p:cNvSpPr txBox="1"/>
          <p:nvPr/>
        </p:nvSpPr>
        <p:spPr>
          <a:xfrm>
            <a:off x="1587500" y="4127500"/>
            <a:ext cx="508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sz="1200">
                <a:solidFill>
                  <a:srgbClr val="1F3864"/>
                </a:solidFill>
              </a:rPr>
              <a:t>▼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ADAA87D-5669-7785-A0E7-0AA0AD7A7124}"/>
              </a:ext>
            </a:extLst>
          </p:cNvPr>
          <p:cNvSpPr/>
          <p:nvPr/>
        </p:nvSpPr>
        <p:spPr>
          <a:xfrm>
            <a:off x="762000" y="4381500"/>
            <a:ext cx="2032000" cy="698500"/>
          </a:xfrm>
          <a:prstGeom prst="rect">
            <a:avLst/>
          </a:prstGeom>
          <a:solidFill>
            <a:srgbClr val="16A08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E1CBA30-E9A7-7EB5-0209-7B39FC4F6ED6}"/>
              </a:ext>
            </a:extLst>
          </p:cNvPr>
          <p:cNvSpPr txBox="1"/>
          <p:nvPr/>
        </p:nvSpPr>
        <p:spPr>
          <a:xfrm>
            <a:off x="825500" y="4483100"/>
            <a:ext cx="1905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sz="1000" b="1">
                <a:solidFill>
                  <a:srgbClr val="FFFFFF"/>
                </a:solidFill>
              </a:rPr>
              <a:t>NotifyResultStep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2E49FCF-B4A3-CBEF-75B5-9A61D31D161F}"/>
              </a:ext>
            </a:extLst>
          </p:cNvPr>
          <p:cNvSpPr txBox="1"/>
          <p:nvPr/>
        </p:nvSpPr>
        <p:spPr>
          <a:xfrm>
            <a:off x="3048000" y="4483100"/>
            <a:ext cx="8763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000">
                <a:solidFill>
                  <a:srgbClr val="2E4057"/>
                </a:solidFill>
              </a:rPr>
              <a:t>SNS email sent to student with match score and summary.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42F5A08-8BED-432D-692A-611D58BF53AB}"/>
              </a:ext>
            </a:extLst>
          </p:cNvPr>
          <p:cNvSpPr txBox="1"/>
          <p:nvPr/>
        </p:nvSpPr>
        <p:spPr>
          <a:xfrm>
            <a:off x="1587500" y="5080000"/>
            <a:ext cx="508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sz="1200">
                <a:solidFill>
                  <a:srgbClr val="1F3864"/>
                </a:solidFill>
              </a:rPr>
              <a:t>▼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E308998-1324-9D98-BEF9-83C9FF4A47ED}"/>
              </a:ext>
            </a:extLst>
          </p:cNvPr>
          <p:cNvSpPr/>
          <p:nvPr/>
        </p:nvSpPr>
        <p:spPr>
          <a:xfrm>
            <a:off x="762000" y="5334000"/>
            <a:ext cx="2032000" cy="698500"/>
          </a:xfrm>
          <a:prstGeom prst="rect">
            <a:avLst/>
          </a:prstGeom>
          <a:solidFill>
            <a:srgbClr val="C0392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6A4DC6F-ED10-3458-59FF-65559531B61A}"/>
              </a:ext>
            </a:extLst>
          </p:cNvPr>
          <p:cNvSpPr txBox="1"/>
          <p:nvPr/>
        </p:nvSpPr>
        <p:spPr>
          <a:xfrm>
            <a:off x="825500" y="5435600"/>
            <a:ext cx="1905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sz="1000" b="1">
                <a:solidFill>
                  <a:srgbClr val="FFFFFF"/>
                </a:solidFill>
              </a:rPr>
              <a:t>MarkFailedStep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2DAFDF0-2C5F-C600-7962-40FCAD9F1C93}"/>
              </a:ext>
            </a:extLst>
          </p:cNvPr>
          <p:cNvSpPr txBox="1"/>
          <p:nvPr/>
        </p:nvSpPr>
        <p:spPr>
          <a:xfrm>
            <a:off x="3048000" y="5435600"/>
            <a:ext cx="8763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000">
                <a:solidFill>
                  <a:srgbClr val="2E4057"/>
                </a:solidFill>
              </a:rPr>
              <a:t>[On ANY error] DynamoDB SDK integration (no Lambda) sets status=failed. → NotifyErrorStep sends SNS alert to operator.</a:t>
            </a:r>
          </a:p>
        </p:txBody>
      </p:sp>
    </p:spTree>
    <p:extLst>
      <p:ext uri="{BB962C8B-B14F-4D97-AF65-F5344CB8AC3E}">
        <p14:creationId xmlns:p14="http://schemas.microsoft.com/office/powerpoint/2010/main" val="26007875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2DC48E6-E937-E7D8-4061-26703B3FB021}"/>
              </a:ext>
            </a:extLst>
          </p:cNvPr>
          <p:cNvSpPr/>
          <p:nvPr/>
        </p:nvSpPr>
        <p:spPr>
          <a:xfrm>
            <a:off x="0" y="0"/>
            <a:ext cx="12192000" cy="1016000"/>
          </a:xfrm>
          <a:prstGeom prst="rect">
            <a:avLst/>
          </a:prstGeom>
          <a:solidFill>
            <a:srgbClr val="1F386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79A5122-5309-885F-C79A-63A80D5F493C}"/>
              </a:ext>
            </a:extLst>
          </p:cNvPr>
          <p:cNvSpPr txBox="1"/>
          <p:nvPr/>
        </p:nvSpPr>
        <p:spPr>
          <a:xfrm>
            <a:off x="508000" y="190500"/>
            <a:ext cx="11176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2800" b="1">
                <a:solidFill>
                  <a:srgbClr val="FFFFFF"/>
                </a:solidFill>
              </a:rPr>
              <a:t>Data Model — DynamoDB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2362E99-76CB-CDC7-300D-6FC439127CD4}"/>
              </a:ext>
            </a:extLst>
          </p:cNvPr>
          <p:cNvSpPr/>
          <p:nvPr/>
        </p:nvSpPr>
        <p:spPr>
          <a:xfrm>
            <a:off x="508000" y="1206500"/>
            <a:ext cx="5270500" cy="4953000"/>
          </a:xfrm>
          <a:prstGeom prst="rect">
            <a:avLst/>
          </a:prstGeom>
          <a:solidFill>
            <a:srgbClr val="F5F5F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E1E05AE-4180-503B-A4CB-9B6C4D43A8ED}"/>
              </a:ext>
            </a:extLst>
          </p:cNvPr>
          <p:cNvSpPr/>
          <p:nvPr/>
        </p:nvSpPr>
        <p:spPr>
          <a:xfrm>
            <a:off x="508000" y="1206500"/>
            <a:ext cx="5270500" cy="482600"/>
          </a:xfrm>
          <a:prstGeom prst="rect">
            <a:avLst/>
          </a:prstGeom>
          <a:solidFill>
            <a:srgbClr val="1F386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A68C328-64B4-3A1C-49DA-8E049ED9E7DD}"/>
              </a:ext>
            </a:extLst>
          </p:cNvPr>
          <p:cNvSpPr txBox="1"/>
          <p:nvPr/>
        </p:nvSpPr>
        <p:spPr>
          <a:xfrm>
            <a:off x="635000" y="1308100"/>
            <a:ext cx="50165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400" b="1">
                <a:solidFill>
                  <a:srgbClr val="FFFFFF"/>
                </a:solidFill>
              </a:rPr>
              <a:t>ResultsTable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13D27F0-00ED-AFF5-79A9-2FF9E024710B}"/>
              </a:ext>
            </a:extLst>
          </p:cNvPr>
          <p:cNvSpPr txBox="1"/>
          <p:nvPr/>
        </p:nvSpPr>
        <p:spPr>
          <a:xfrm>
            <a:off x="698500" y="1803400"/>
            <a:ext cx="4953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000">
                <a:solidFill>
                  <a:srgbClr val="2E4057"/>
                </a:solidFill>
              </a:rPr>
              <a:t>candidateId (PK)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DCFB6C9-D2D4-FC06-557C-7D21BDCAA22E}"/>
              </a:ext>
            </a:extLst>
          </p:cNvPr>
          <p:cNvSpPr txBox="1"/>
          <p:nvPr/>
        </p:nvSpPr>
        <p:spPr>
          <a:xfrm>
            <a:off x="698500" y="2159000"/>
            <a:ext cx="4953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000">
                <a:solidFill>
                  <a:srgbClr val="2E4057"/>
                </a:solidFill>
              </a:rPr>
              <a:t>resumeId (SK)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44E2BEF-159C-19B7-1639-58EE6B1F91D3}"/>
              </a:ext>
            </a:extLst>
          </p:cNvPr>
          <p:cNvSpPr txBox="1"/>
          <p:nvPr/>
        </p:nvSpPr>
        <p:spPr>
          <a:xfrm>
            <a:off x="698500" y="2514600"/>
            <a:ext cx="4953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000">
                <a:solidFill>
                  <a:srgbClr val="2E4057"/>
                </a:solidFill>
              </a:rPr>
              <a:t>userId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75621E6-0055-69FA-BA02-29D08E94FD63}"/>
              </a:ext>
            </a:extLst>
          </p:cNvPr>
          <p:cNvSpPr txBox="1"/>
          <p:nvPr/>
        </p:nvSpPr>
        <p:spPr>
          <a:xfrm>
            <a:off x="698500" y="2870200"/>
            <a:ext cx="4953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000">
                <a:solidFill>
                  <a:srgbClr val="2E4057"/>
                </a:solidFill>
              </a:rPr>
              <a:t>jobId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29D684F-9796-AC83-8423-1E63A15E333D}"/>
              </a:ext>
            </a:extLst>
          </p:cNvPr>
          <p:cNvSpPr txBox="1"/>
          <p:nvPr/>
        </p:nvSpPr>
        <p:spPr>
          <a:xfrm>
            <a:off x="698500" y="3225800"/>
            <a:ext cx="4953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000">
                <a:solidFill>
                  <a:srgbClr val="2E4057"/>
                </a:solidFill>
              </a:rPr>
              <a:t>status  [pending|completed|failed]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318661C-B045-3F19-2A1C-1DE6E4F3AAA3}"/>
              </a:ext>
            </a:extLst>
          </p:cNvPr>
          <p:cNvSpPr txBox="1"/>
          <p:nvPr/>
        </p:nvSpPr>
        <p:spPr>
          <a:xfrm>
            <a:off x="698500" y="3581400"/>
            <a:ext cx="4953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000">
                <a:solidFill>
                  <a:srgbClr val="2E4057"/>
                </a:solidFill>
              </a:rPr>
              <a:t>matchScore  (0–100)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E4213B4-3017-8729-2AC5-506315580109}"/>
              </a:ext>
            </a:extLst>
          </p:cNvPr>
          <p:cNvSpPr txBox="1"/>
          <p:nvPr/>
        </p:nvSpPr>
        <p:spPr>
          <a:xfrm>
            <a:off x="698500" y="3937000"/>
            <a:ext cx="4953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000">
                <a:solidFill>
                  <a:srgbClr val="2E4057"/>
                </a:solidFill>
              </a:rPr>
              <a:t>skills  [ ]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1504F38-09C9-484E-C458-65863B24FD7E}"/>
              </a:ext>
            </a:extLst>
          </p:cNvPr>
          <p:cNvSpPr txBox="1"/>
          <p:nvPr/>
        </p:nvSpPr>
        <p:spPr>
          <a:xfrm>
            <a:off x="698500" y="4292600"/>
            <a:ext cx="4953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000">
                <a:solidFill>
                  <a:srgbClr val="2E4057"/>
                </a:solidFill>
              </a:rPr>
              <a:t>strengths  [ ]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A3221A5-2504-08EE-A14E-F8A69E82B43E}"/>
              </a:ext>
            </a:extLst>
          </p:cNvPr>
          <p:cNvSpPr txBox="1"/>
          <p:nvPr/>
        </p:nvSpPr>
        <p:spPr>
          <a:xfrm>
            <a:off x="698500" y="4648200"/>
            <a:ext cx="4953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000">
                <a:solidFill>
                  <a:srgbClr val="2E4057"/>
                </a:solidFill>
              </a:rPr>
              <a:t>gaps  [ ]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5F39EB1-CEE0-8331-ABE4-CCC95386F4D5}"/>
              </a:ext>
            </a:extLst>
          </p:cNvPr>
          <p:cNvSpPr txBox="1"/>
          <p:nvPr/>
        </p:nvSpPr>
        <p:spPr>
          <a:xfrm>
            <a:off x="698500" y="5003800"/>
            <a:ext cx="4953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000">
                <a:solidFill>
                  <a:srgbClr val="2E4057"/>
                </a:solidFill>
              </a:rPr>
              <a:t>recommendations  [ ]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7A23148-6AA6-3F94-C528-952BFEA7883E}"/>
              </a:ext>
            </a:extLst>
          </p:cNvPr>
          <p:cNvSpPr txBox="1"/>
          <p:nvPr/>
        </p:nvSpPr>
        <p:spPr>
          <a:xfrm>
            <a:off x="698500" y="5359400"/>
            <a:ext cx="4953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000">
                <a:solidFill>
                  <a:srgbClr val="2E4057"/>
                </a:solidFill>
              </a:rPr>
              <a:t>s3Key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62D6CA9-CAB3-DB43-15F2-3C10CE2D4816}"/>
              </a:ext>
            </a:extLst>
          </p:cNvPr>
          <p:cNvSpPr txBox="1"/>
          <p:nvPr/>
        </p:nvSpPr>
        <p:spPr>
          <a:xfrm>
            <a:off x="698500" y="5715000"/>
            <a:ext cx="4953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000">
                <a:solidFill>
                  <a:srgbClr val="2E4057"/>
                </a:solidFill>
              </a:rPr>
              <a:t>createdAt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44B6B4B-842D-56ED-AB5A-6BCB9215B402}"/>
              </a:ext>
            </a:extLst>
          </p:cNvPr>
          <p:cNvSpPr txBox="1"/>
          <p:nvPr/>
        </p:nvSpPr>
        <p:spPr>
          <a:xfrm>
            <a:off x="635000" y="5778500"/>
            <a:ext cx="50165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900">
                <a:solidFill>
                  <a:srgbClr val="C0392B"/>
                </a:solidFill>
              </a:rPr>
              <a:t>GSI 1: userId-createdAt-index → student history (sorted newest first)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63585E7-AB6C-5BCC-FC0A-9EA0E18BE0B7}"/>
              </a:ext>
            </a:extLst>
          </p:cNvPr>
          <p:cNvSpPr txBox="1"/>
          <p:nvPr/>
        </p:nvSpPr>
        <p:spPr>
          <a:xfrm>
            <a:off x="635000" y="5969000"/>
            <a:ext cx="50165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900">
                <a:solidFill>
                  <a:srgbClr val="C0392B"/>
                </a:solidFill>
              </a:rPr>
              <a:t>GSI 2: jobId-matchScore-index  → recruiter ranking (sorted score desc)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8EEA8C1-34B8-EF2F-89DA-65ADFAAE2CEA}"/>
              </a:ext>
            </a:extLst>
          </p:cNvPr>
          <p:cNvSpPr/>
          <p:nvPr/>
        </p:nvSpPr>
        <p:spPr>
          <a:xfrm>
            <a:off x="6350000" y="1206500"/>
            <a:ext cx="5270500" cy="3048000"/>
          </a:xfrm>
          <a:prstGeom prst="rect">
            <a:avLst/>
          </a:prstGeom>
          <a:solidFill>
            <a:srgbClr val="F5F5F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B9BB1BE-163C-120D-1FC6-DF0D8D791D7A}"/>
              </a:ext>
            </a:extLst>
          </p:cNvPr>
          <p:cNvSpPr/>
          <p:nvPr/>
        </p:nvSpPr>
        <p:spPr>
          <a:xfrm>
            <a:off x="6350000" y="1206500"/>
            <a:ext cx="5270500" cy="482600"/>
          </a:xfrm>
          <a:prstGeom prst="rect">
            <a:avLst/>
          </a:prstGeom>
          <a:solidFill>
            <a:srgbClr val="2E405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D2D80A9-17B4-D6D6-1A84-0CEA3BB4107E}"/>
              </a:ext>
            </a:extLst>
          </p:cNvPr>
          <p:cNvSpPr txBox="1"/>
          <p:nvPr/>
        </p:nvSpPr>
        <p:spPr>
          <a:xfrm>
            <a:off x="6477000" y="1308100"/>
            <a:ext cx="50165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400" b="1">
                <a:solidFill>
                  <a:srgbClr val="FFFFFF"/>
                </a:solidFill>
              </a:rPr>
              <a:t>JobsTable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DC20CEF-52F1-A7A2-F237-B1E0203E2EA3}"/>
              </a:ext>
            </a:extLst>
          </p:cNvPr>
          <p:cNvSpPr txBox="1"/>
          <p:nvPr/>
        </p:nvSpPr>
        <p:spPr>
          <a:xfrm>
            <a:off x="6540500" y="1803400"/>
            <a:ext cx="4953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000">
                <a:solidFill>
                  <a:srgbClr val="2E4057"/>
                </a:solidFill>
              </a:rPr>
              <a:t>jobId (PK)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2E92320-1E07-F080-56D7-00DBF5D8212E}"/>
              </a:ext>
            </a:extLst>
          </p:cNvPr>
          <p:cNvSpPr txBox="1"/>
          <p:nvPr/>
        </p:nvSpPr>
        <p:spPr>
          <a:xfrm>
            <a:off x="6540500" y="2159000"/>
            <a:ext cx="4953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000">
                <a:solidFill>
                  <a:srgbClr val="2E4057"/>
                </a:solidFill>
              </a:rPr>
              <a:t>title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5702D4A-F861-ED5D-2087-AF4AAC799F1F}"/>
              </a:ext>
            </a:extLst>
          </p:cNvPr>
          <p:cNvSpPr txBox="1"/>
          <p:nvPr/>
        </p:nvSpPr>
        <p:spPr>
          <a:xfrm>
            <a:off x="6540500" y="2514600"/>
            <a:ext cx="4953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000">
                <a:solidFill>
                  <a:srgbClr val="2E4057"/>
                </a:solidFill>
              </a:rPr>
              <a:t>description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96D04FE-4DBF-87FD-3FE3-273F918108FD}"/>
              </a:ext>
            </a:extLst>
          </p:cNvPr>
          <p:cNvSpPr txBox="1"/>
          <p:nvPr/>
        </p:nvSpPr>
        <p:spPr>
          <a:xfrm>
            <a:off x="6540500" y="2870200"/>
            <a:ext cx="4953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000">
                <a:solidFill>
                  <a:srgbClr val="2E4057"/>
                </a:solidFill>
              </a:rPr>
              <a:t>requiredSkills  [ ]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6F34AE2-1F9D-F98A-A760-90F61467B222}"/>
              </a:ext>
            </a:extLst>
          </p:cNvPr>
          <p:cNvSpPr txBox="1"/>
          <p:nvPr/>
        </p:nvSpPr>
        <p:spPr>
          <a:xfrm>
            <a:off x="6540500" y="3225800"/>
            <a:ext cx="4953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000">
                <a:solidFill>
                  <a:srgbClr val="2E4057"/>
                </a:solidFill>
              </a:rPr>
              <a:t>ownerId  (recruiter sub)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AA708FB-1C2B-CCA9-9654-7E3EAC4C6EDD}"/>
              </a:ext>
            </a:extLst>
          </p:cNvPr>
          <p:cNvSpPr txBox="1"/>
          <p:nvPr/>
        </p:nvSpPr>
        <p:spPr>
          <a:xfrm>
            <a:off x="6540500" y="3581400"/>
            <a:ext cx="4953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000">
                <a:solidFill>
                  <a:srgbClr val="2E4057"/>
                </a:solidFill>
              </a:rPr>
              <a:t>isPrivate  (custom descriptions)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F9D116D-9FD6-C853-B27A-A1B4AA0CD5F2}"/>
              </a:ext>
            </a:extLst>
          </p:cNvPr>
          <p:cNvSpPr txBox="1"/>
          <p:nvPr/>
        </p:nvSpPr>
        <p:spPr>
          <a:xfrm>
            <a:off x="6540500" y="3937000"/>
            <a:ext cx="4953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000">
                <a:solidFill>
                  <a:srgbClr val="2E4057"/>
                </a:solidFill>
              </a:rPr>
              <a:t>location</a:t>
            </a:r>
          </a:p>
        </p:txBody>
      </p:sp>
    </p:spTree>
    <p:extLst>
      <p:ext uri="{BB962C8B-B14F-4D97-AF65-F5344CB8AC3E}">
        <p14:creationId xmlns:p14="http://schemas.microsoft.com/office/powerpoint/2010/main" val="22251654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9A37300-110A-2248-25D5-92A9E9733665}"/>
              </a:ext>
            </a:extLst>
          </p:cNvPr>
          <p:cNvSpPr/>
          <p:nvPr/>
        </p:nvSpPr>
        <p:spPr>
          <a:xfrm>
            <a:off x="0" y="0"/>
            <a:ext cx="12192000" cy="1016000"/>
          </a:xfrm>
          <a:prstGeom prst="rect">
            <a:avLst/>
          </a:prstGeom>
          <a:solidFill>
            <a:srgbClr val="1F386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30F8BC0-B265-D4B8-3556-66C8173592CF}"/>
              </a:ext>
            </a:extLst>
          </p:cNvPr>
          <p:cNvSpPr txBox="1"/>
          <p:nvPr/>
        </p:nvSpPr>
        <p:spPr>
          <a:xfrm>
            <a:off x="508000" y="190500"/>
            <a:ext cx="11176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2800" b="1">
                <a:solidFill>
                  <a:srgbClr val="FFFFFF"/>
                </a:solidFill>
              </a:rPr>
              <a:t>AWS Well-Architected Framework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B2F8C75-8AD1-D204-B12C-C6D8D5AB2F53}"/>
              </a:ext>
            </a:extLst>
          </p:cNvPr>
          <p:cNvSpPr/>
          <p:nvPr/>
        </p:nvSpPr>
        <p:spPr>
          <a:xfrm>
            <a:off x="381000" y="1270000"/>
            <a:ext cx="3683000" cy="2286000"/>
          </a:xfrm>
          <a:prstGeom prst="rect">
            <a:avLst/>
          </a:prstGeom>
          <a:solidFill>
            <a:srgbClr val="2980B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D0D633A-F52C-3A43-B2AA-14D25E103B8F}"/>
              </a:ext>
            </a:extLst>
          </p:cNvPr>
          <p:cNvSpPr txBox="1"/>
          <p:nvPr/>
        </p:nvSpPr>
        <p:spPr>
          <a:xfrm>
            <a:off x="533400" y="1397000"/>
            <a:ext cx="33782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200" b="1">
                <a:solidFill>
                  <a:srgbClr val="FFFFFF"/>
                </a:solidFill>
              </a:rPr>
              <a:t>Operational Excellence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3A8486-3465-8F72-2615-0D2C93DDCB2F}"/>
              </a:ext>
            </a:extLst>
          </p:cNvPr>
          <p:cNvSpPr txBox="1"/>
          <p:nvPr/>
        </p:nvSpPr>
        <p:spPr>
          <a:xfrm>
            <a:off x="533400" y="1841500"/>
            <a:ext cx="33782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000">
                <a:solidFill>
                  <a:srgbClr val="FFFFFF"/>
                </a:solidFill>
              </a:rPr>
              <a:t>10 CloudWatch alarms (all Lambdas + SFN + DDB) • Step Functions ERROR logs • CI/CD with test gate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3729C4E-EB4E-2862-B0B0-530AA6252874}"/>
              </a:ext>
            </a:extLst>
          </p:cNvPr>
          <p:cNvSpPr/>
          <p:nvPr/>
        </p:nvSpPr>
        <p:spPr>
          <a:xfrm>
            <a:off x="4318000" y="1270000"/>
            <a:ext cx="3683000" cy="2286000"/>
          </a:xfrm>
          <a:prstGeom prst="rect">
            <a:avLst/>
          </a:prstGeom>
          <a:solidFill>
            <a:srgbClr val="C0392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C91759D-F530-8EF9-2953-C222DCE5F2D5}"/>
              </a:ext>
            </a:extLst>
          </p:cNvPr>
          <p:cNvSpPr txBox="1"/>
          <p:nvPr/>
        </p:nvSpPr>
        <p:spPr>
          <a:xfrm>
            <a:off x="4470400" y="1397000"/>
            <a:ext cx="33782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200" b="1">
                <a:solidFill>
                  <a:srgbClr val="FFFFFF"/>
                </a:solidFill>
              </a:rPr>
              <a:t>Security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DBA2875-068D-1E0D-6175-4E4092BF195B}"/>
              </a:ext>
            </a:extLst>
          </p:cNvPr>
          <p:cNvSpPr txBox="1"/>
          <p:nvPr/>
        </p:nvSpPr>
        <p:spPr>
          <a:xfrm>
            <a:off x="4470400" y="1841500"/>
            <a:ext cx="33782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000">
                <a:solidFill>
                  <a:srgbClr val="FFFFFF"/>
                </a:solidFill>
              </a:rPr>
              <a:t>Cognito JWT on all routes • Role-based access (students/recruiters) • Secrets Manager for HF token • Security headers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62A1424-5B2A-C3AF-41EC-7ADD02962A52}"/>
              </a:ext>
            </a:extLst>
          </p:cNvPr>
          <p:cNvSpPr/>
          <p:nvPr/>
        </p:nvSpPr>
        <p:spPr>
          <a:xfrm>
            <a:off x="8255000" y="1270000"/>
            <a:ext cx="3683000" cy="2286000"/>
          </a:xfrm>
          <a:prstGeom prst="rect">
            <a:avLst/>
          </a:prstGeom>
          <a:solidFill>
            <a:srgbClr val="27AE6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F3A0160-3360-5F89-9F3E-56AC3C1B1895}"/>
              </a:ext>
            </a:extLst>
          </p:cNvPr>
          <p:cNvSpPr txBox="1"/>
          <p:nvPr/>
        </p:nvSpPr>
        <p:spPr>
          <a:xfrm>
            <a:off x="8407400" y="1397000"/>
            <a:ext cx="33782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200" b="1">
                <a:solidFill>
                  <a:srgbClr val="FFFFFF"/>
                </a:solidFill>
              </a:rPr>
              <a:t>Reliability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D74A358-3116-A38C-6A2C-3E51193C5335}"/>
              </a:ext>
            </a:extLst>
          </p:cNvPr>
          <p:cNvSpPr txBox="1"/>
          <p:nvPr/>
        </p:nvSpPr>
        <p:spPr>
          <a:xfrm>
            <a:off x="8407400" y="1841500"/>
            <a:ext cx="33782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000">
                <a:solidFill>
                  <a:srgbClr val="FFFFFF"/>
                </a:solidFill>
              </a:rPr>
              <a:t>Step Functions retry (2x) + Catch on every state • S3 versioning • DynamoDB on-demand (no throttle) • Multi-AZ by default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BD7D23C-D141-5F2E-0CB3-EA435340FAF2}"/>
              </a:ext>
            </a:extLst>
          </p:cNvPr>
          <p:cNvSpPr/>
          <p:nvPr/>
        </p:nvSpPr>
        <p:spPr>
          <a:xfrm>
            <a:off x="381000" y="3810000"/>
            <a:ext cx="3683000" cy="2286000"/>
          </a:xfrm>
          <a:prstGeom prst="rect">
            <a:avLst/>
          </a:prstGeom>
          <a:solidFill>
            <a:srgbClr val="8E44A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6037035-6025-76E5-B18F-15FA154C028D}"/>
              </a:ext>
            </a:extLst>
          </p:cNvPr>
          <p:cNvSpPr txBox="1"/>
          <p:nvPr/>
        </p:nvSpPr>
        <p:spPr>
          <a:xfrm>
            <a:off x="533400" y="3937000"/>
            <a:ext cx="33782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200" b="1">
                <a:solidFill>
                  <a:srgbClr val="FFFFFF"/>
                </a:solidFill>
              </a:rPr>
              <a:t>Performance Efficiency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A392956-5D8C-27FD-E261-B1BD17CF20C8}"/>
              </a:ext>
            </a:extLst>
          </p:cNvPr>
          <p:cNvSpPr txBox="1"/>
          <p:nvPr/>
        </p:nvSpPr>
        <p:spPr>
          <a:xfrm>
            <a:off x="533400" y="4381500"/>
            <a:ext cx="33782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000">
                <a:solidFill>
                  <a:srgbClr val="FFFFFF"/>
                </a:solidFill>
              </a:rPr>
              <a:t>Presigned S3 URLs (bypass Lambda) • DynamoDB GSIs (pre-sorted) • Async pipeline (no blocked Lambda) • Secrets caching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58C062F-9D30-53F3-94BF-248A79F5620F}"/>
              </a:ext>
            </a:extLst>
          </p:cNvPr>
          <p:cNvSpPr/>
          <p:nvPr/>
        </p:nvSpPr>
        <p:spPr>
          <a:xfrm>
            <a:off x="4318000" y="3810000"/>
            <a:ext cx="3683000" cy="2286000"/>
          </a:xfrm>
          <a:prstGeom prst="rect">
            <a:avLst/>
          </a:prstGeom>
          <a:solidFill>
            <a:srgbClr val="E67E2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358BEDF-9169-582A-975E-66B09E521D75}"/>
              </a:ext>
            </a:extLst>
          </p:cNvPr>
          <p:cNvSpPr txBox="1"/>
          <p:nvPr/>
        </p:nvSpPr>
        <p:spPr>
          <a:xfrm>
            <a:off x="4470400" y="3937000"/>
            <a:ext cx="33782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200" b="1">
                <a:solidFill>
                  <a:srgbClr val="FFFFFF"/>
                </a:solidFill>
              </a:rPr>
              <a:t>Cost Optimization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4F69043-4652-EC48-9F59-5A528E7AC32F}"/>
              </a:ext>
            </a:extLst>
          </p:cNvPr>
          <p:cNvSpPr txBox="1"/>
          <p:nvPr/>
        </p:nvSpPr>
        <p:spPr>
          <a:xfrm>
            <a:off x="4470400" y="4381500"/>
            <a:ext cx="33782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000">
                <a:solidFill>
                  <a:srgbClr val="FFFFFF"/>
                </a:solidFill>
              </a:rPr>
              <a:t>Serverless = zero idle cost • S3 lifecycle rules • API Gateway throttling • Est. ~\/month at 1000 analyses/day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03B6DF2-3CC2-4B9D-58CF-6438B860CEED}"/>
              </a:ext>
            </a:extLst>
          </p:cNvPr>
          <p:cNvSpPr/>
          <p:nvPr/>
        </p:nvSpPr>
        <p:spPr>
          <a:xfrm>
            <a:off x="8255000" y="3810000"/>
            <a:ext cx="3683000" cy="2286000"/>
          </a:xfrm>
          <a:prstGeom prst="rect">
            <a:avLst/>
          </a:prstGeom>
          <a:solidFill>
            <a:srgbClr val="16A08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0E357F0-F169-C3CD-E747-565A13FA0E8D}"/>
              </a:ext>
            </a:extLst>
          </p:cNvPr>
          <p:cNvSpPr txBox="1"/>
          <p:nvPr/>
        </p:nvSpPr>
        <p:spPr>
          <a:xfrm>
            <a:off x="8407400" y="3937000"/>
            <a:ext cx="33782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200" b="1">
                <a:solidFill>
                  <a:srgbClr val="FFFFFF"/>
                </a:solidFill>
              </a:rPr>
              <a:t>Sustainability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D3805FB-F097-D033-09C3-308AE34F16EA}"/>
              </a:ext>
            </a:extLst>
          </p:cNvPr>
          <p:cNvSpPr txBox="1"/>
          <p:nvPr/>
        </p:nvSpPr>
        <p:spPr>
          <a:xfrm>
            <a:off x="8407400" y="4381500"/>
            <a:ext cx="33782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000">
                <a:solidFill>
                  <a:srgbClr val="FFFFFF"/>
                </a:solidFill>
              </a:rPr>
              <a:t>No always-on servers • Scales to zero at zero load • S3 lifecycle deletes stale versions • AWS runs on 100% renewables in us-east-1</a:t>
            </a:r>
          </a:p>
        </p:txBody>
      </p:sp>
    </p:spTree>
    <p:extLst>
      <p:ext uri="{BB962C8B-B14F-4D97-AF65-F5344CB8AC3E}">
        <p14:creationId xmlns:p14="http://schemas.microsoft.com/office/powerpoint/2010/main" val="42188307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15E5B0D-2A01-1ED7-0106-AC422B45D740}"/>
              </a:ext>
            </a:extLst>
          </p:cNvPr>
          <p:cNvSpPr/>
          <p:nvPr/>
        </p:nvSpPr>
        <p:spPr>
          <a:xfrm>
            <a:off x="0" y="0"/>
            <a:ext cx="12192000" cy="1016000"/>
          </a:xfrm>
          <a:prstGeom prst="rect">
            <a:avLst/>
          </a:prstGeom>
          <a:solidFill>
            <a:srgbClr val="1F386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E2690A5-97D9-16C5-C161-74B8F1043217}"/>
              </a:ext>
            </a:extLst>
          </p:cNvPr>
          <p:cNvSpPr txBox="1"/>
          <p:nvPr/>
        </p:nvSpPr>
        <p:spPr>
          <a:xfrm>
            <a:off x="508000" y="190500"/>
            <a:ext cx="11176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fr-FR" sz="2800" b="1">
                <a:solidFill>
                  <a:srgbClr val="FFFFFF"/>
                </a:solidFill>
              </a:rPr>
              <a:t>CI/CD Pipeline — GitHub Actions</a:t>
            </a:r>
            <a:endParaRPr lang="en-US" sz="2800" b="1">
              <a:solidFill>
                <a:srgbClr val="FFFFFF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1F56029-0B72-BF5C-EB3F-8CA957058976}"/>
              </a:ext>
            </a:extLst>
          </p:cNvPr>
          <p:cNvSpPr txBox="1"/>
          <p:nvPr/>
        </p:nvSpPr>
        <p:spPr>
          <a:xfrm>
            <a:off x="508000" y="1117600"/>
            <a:ext cx="11176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300">
                <a:solidFill>
                  <a:srgbClr val="646464"/>
                </a:solidFill>
              </a:rPr>
              <a:t>Every push to main triggers two sequential jobs: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E7CEC5F-79AA-467B-481E-2249BDC5D77D}"/>
              </a:ext>
            </a:extLst>
          </p:cNvPr>
          <p:cNvSpPr/>
          <p:nvPr/>
        </p:nvSpPr>
        <p:spPr>
          <a:xfrm>
            <a:off x="508000" y="1524000"/>
            <a:ext cx="5080000" cy="4191000"/>
          </a:xfrm>
          <a:prstGeom prst="rect">
            <a:avLst/>
          </a:prstGeom>
          <a:solidFill>
            <a:srgbClr val="F0F8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9D4179F-43AC-5F81-674C-2466D69F8A07}"/>
              </a:ext>
            </a:extLst>
          </p:cNvPr>
          <p:cNvSpPr/>
          <p:nvPr/>
        </p:nvSpPr>
        <p:spPr>
          <a:xfrm>
            <a:off x="508000" y="1524000"/>
            <a:ext cx="5080000" cy="508000"/>
          </a:xfrm>
          <a:prstGeom prst="rect">
            <a:avLst/>
          </a:prstGeom>
          <a:solidFill>
            <a:srgbClr val="27AE6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3ED60C8-D3EB-54D6-73B5-10F0291E12B1}"/>
              </a:ext>
            </a:extLst>
          </p:cNvPr>
          <p:cNvSpPr txBox="1"/>
          <p:nvPr/>
        </p:nvSpPr>
        <p:spPr>
          <a:xfrm>
            <a:off x="635000" y="1625600"/>
            <a:ext cx="4826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400" b="1">
                <a:solidFill>
                  <a:srgbClr val="FFFFFF"/>
                </a:solidFill>
              </a:rPr>
              <a:t>Job 1 — Unit Tests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18A1FFF-29AD-0E6D-7922-43B8005356F4}"/>
              </a:ext>
            </a:extLst>
          </p:cNvPr>
          <p:cNvSpPr txBox="1"/>
          <p:nvPr/>
        </p:nvSpPr>
        <p:spPr>
          <a:xfrm>
            <a:off x="762000" y="2159000"/>
            <a:ext cx="4699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100">
                <a:solidFill>
                  <a:srgbClr val="2E4057"/>
                </a:solidFill>
              </a:rPr>
              <a:t>▶  Checkout code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76711F9-6E44-4560-81FC-19FB26BFB6E4}"/>
              </a:ext>
            </a:extLst>
          </p:cNvPr>
          <p:cNvSpPr txBox="1"/>
          <p:nvPr/>
        </p:nvSpPr>
        <p:spPr>
          <a:xfrm>
            <a:off x="762000" y="2794000"/>
            <a:ext cx="4699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100">
                <a:solidFill>
                  <a:srgbClr val="2E4057"/>
                </a:solidFill>
              </a:rPr>
              <a:t>▶  Setup Node.js 22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7D5E255-2080-5B51-44DD-7AC43DCFE91F}"/>
              </a:ext>
            </a:extLst>
          </p:cNvPr>
          <p:cNvSpPr txBox="1"/>
          <p:nvPr/>
        </p:nvSpPr>
        <p:spPr>
          <a:xfrm>
            <a:off x="762000" y="3429000"/>
            <a:ext cx="4699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l-PL" sz="1100">
                <a:solidFill>
                  <a:srgbClr val="2E4057"/>
                </a:solidFill>
              </a:rPr>
              <a:t>▶  npm ci  (install Jest + mocks)</a:t>
            </a:r>
            <a:endParaRPr lang="en-US" sz="1100">
              <a:solidFill>
                <a:srgbClr val="2E4057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17E5B6D-0AB8-B946-85A8-C46570BEEF1A}"/>
              </a:ext>
            </a:extLst>
          </p:cNvPr>
          <p:cNvSpPr txBox="1"/>
          <p:nvPr/>
        </p:nvSpPr>
        <p:spPr>
          <a:xfrm>
            <a:off x="762000" y="4064000"/>
            <a:ext cx="4699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100">
                <a:solidFill>
                  <a:srgbClr val="2E4057"/>
                </a:solidFill>
              </a:rPr>
              <a:t>▶  npm test  — 71 tests must pass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76165BF-6D09-E8EA-0947-F65866920036}"/>
              </a:ext>
            </a:extLst>
          </p:cNvPr>
          <p:cNvSpPr txBox="1"/>
          <p:nvPr/>
        </p:nvSpPr>
        <p:spPr>
          <a:xfrm>
            <a:off x="762000" y="4699000"/>
            <a:ext cx="4699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100">
                <a:solidFill>
                  <a:srgbClr val="2E4057"/>
                </a:solidFill>
              </a:rPr>
              <a:t>▶  ⛔ FAIL = deploy is blocked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88AC5CB-37EC-22F8-9C7E-0338FB035045}"/>
              </a:ext>
            </a:extLst>
          </p:cNvPr>
          <p:cNvSpPr txBox="1"/>
          <p:nvPr/>
        </p:nvSpPr>
        <p:spPr>
          <a:xfrm>
            <a:off x="5842000" y="3238500"/>
            <a:ext cx="7620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sz="1600" b="1">
                <a:solidFill>
                  <a:srgbClr val="1F3864"/>
                </a:solidFill>
              </a:rPr>
              <a:t>→  needs: test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F23937A-217A-B621-DC83-D365D94C7982}"/>
              </a:ext>
            </a:extLst>
          </p:cNvPr>
          <p:cNvSpPr/>
          <p:nvPr/>
        </p:nvSpPr>
        <p:spPr>
          <a:xfrm>
            <a:off x="6858000" y="1524000"/>
            <a:ext cx="4826000" cy="4191000"/>
          </a:xfrm>
          <a:prstGeom prst="rect">
            <a:avLst/>
          </a:prstGeom>
          <a:solidFill>
            <a:srgbClr val="F0F8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14BC233-9B6A-DA43-F31E-1BB2E878F1BD}"/>
              </a:ext>
            </a:extLst>
          </p:cNvPr>
          <p:cNvSpPr/>
          <p:nvPr/>
        </p:nvSpPr>
        <p:spPr>
          <a:xfrm>
            <a:off x="6858000" y="1524000"/>
            <a:ext cx="4826000" cy="508000"/>
          </a:xfrm>
          <a:prstGeom prst="rect">
            <a:avLst/>
          </a:prstGeom>
          <a:solidFill>
            <a:srgbClr val="1F386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487E5CF-6952-80D3-044F-0B7E50BF2B64}"/>
              </a:ext>
            </a:extLst>
          </p:cNvPr>
          <p:cNvSpPr txBox="1"/>
          <p:nvPr/>
        </p:nvSpPr>
        <p:spPr>
          <a:xfrm>
            <a:off x="6985000" y="1625600"/>
            <a:ext cx="4572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400" b="1">
                <a:solidFill>
                  <a:srgbClr val="FFFFFF"/>
                </a:solidFill>
              </a:rPr>
              <a:t>Job 2 — Terraform Apply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4E12A98-A22D-0C48-73C5-908D70F99DCB}"/>
              </a:ext>
            </a:extLst>
          </p:cNvPr>
          <p:cNvSpPr txBox="1"/>
          <p:nvPr/>
        </p:nvSpPr>
        <p:spPr>
          <a:xfrm>
            <a:off x="7048500" y="2159000"/>
            <a:ext cx="45085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100">
                <a:solidFill>
                  <a:srgbClr val="2E4057"/>
                </a:solidFill>
              </a:rPr>
              <a:t>▶  Configure AWS credentials (secrets)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A15C8AA-980C-28CC-149B-86054F502C00}"/>
              </a:ext>
            </a:extLst>
          </p:cNvPr>
          <p:cNvSpPr txBox="1"/>
          <p:nvPr/>
        </p:nvSpPr>
        <p:spPr>
          <a:xfrm>
            <a:off x="7048500" y="2717800"/>
            <a:ext cx="45085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it-IT" sz="1100">
                <a:solidFill>
                  <a:srgbClr val="2E4057"/>
                </a:solidFill>
              </a:rPr>
              <a:t>▶  npm ci in lambdas/queryApi</a:t>
            </a:r>
            <a:endParaRPr lang="en-US" sz="1100">
              <a:solidFill>
                <a:srgbClr val="2E4057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5BC8090-E242-6800-9B38-76C7B0BABDB7}"/>
              </a:ext>
            </a:extLst>
          </p:cNvPr>
          <p:cNvSpPr txBox="1"/>
          <p:nvPr/>
        </p:nvSpPr>
        <p:spPr>
          <a:xfrm>
            <a:off x="7048500" y="3276600"/>
            <a:ext cx="45085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100">
                <a:solidFill>
                  <a:srgbClr val="2E4057"/>
                </a:solidFill>
              </a:rPr>
              <a:t>▶  terraform init + validate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53A5A1E-4933-4E12-8E64-FE036B900EAB}"/>
              </a:ext>
            </a:extLst>
          </p:cNvPr>
          <p:cNvSpPr txBox="1"/>
          <p:nvPr/>
        </p:nvSpPr>
        <p:spPr>
          <a:xfrm>
            <a:off x="7048500" y="3835400"/>
            <a:ext cx="45085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100">
                <a:solidFill>
                  <a:srgbClr val="2E4057"/>
                </a:solidFill>
              </a:rPr>
              <a:t>▶  terraform plan (log changes)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44815D8-DA49-D26D-41C0-C2FD399E4E80}"/>
              </a:ext>
            </a:extLst>
          </p:cNvPr>
          <p:cNvSpPr txBox="1"/>
          <p:nvPr/>
        </p:nvSpPr>
        <p:spPr>
          <a:xfrm>
            <a:off x="7048500" y="4394200"/>
            <a:ext cx="45085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100">
                <a:solidFill>
                  <a:srgbClr val="2E4057"/>
                </a:solidFill>
              </a:rPr>
              <a:t>▶  terraform apply -auto-approve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DE29448-B4DF-3C66-3BBC-CF1CE35F94CB}"/>
              </a:ext>
            </a:extLst>
          </p:cNvPr>
          <p:cNvSpPr txBox="1"/>
          <p:nvPr/>
        </p:nvSpPr>
        <p:spPr>
          <a:xfrm>
            <a:off x="7048500" y="4953000"/>
            <a:ext cx="45085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100">
                <a:solidFill>
                  <a:srgbClr val="2E4057"/>
                </a:solidFill>
              </a:rPr>
              <a:t>▶  Print live API outputs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9928492-5A7E-8487-B475-7B64161D834C}"/>
              </a:ext>
            </a:extLst>
          </p:cNvPr>
          <p:cNvSpPr txBox="1"/>
          <p:nvPr/>
        </p:nvSpPr>
        <p:spPr>
          <a:xfrm>
            <a:off x="508000" y="5867400"/>
            <a:ext cx="111760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sz="1000">
                <a:solidFill>
                  <a:srgbClr val="646464"/>
                </a:solidFill>
              </a:rPr>
              <a:t>Required Secrets: AWS_ACCESS_KEY_ID · AWS_SECRET_ACCESS_KEY · AWS_SESSION_TOKEN · DEMO_USER_PASSWORD · HF_TOKEN</a:t>
            </a:r>
          </a:p>
        </p:txBody>
      </p:sp>
    </p:spTree>
    <p:extLst>
      <p:ext uri="{BB962C8B-B14F-4D97-AF65-F5344CB8AC3E}">
        <p14:creationId xmlns:p14="http://schemas.microsoft.com/office/powerpoint/2010/main" val="41017929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E5FB496-C8BA-E1C5-C702-5320F35AFE01}"/>
              </a:ext>
            </a:extLst>
          </p:cNvPr>
          <p:cNvSpPr/>
          <p:nvPr/>
        </p:nvSpPr>
        <p:spPr>
          <a:xfrm>
            <a:off x="0" y="0"/>
            <a:ext cx="12192000" cy="1016000"/>
          </a:xfrm>
          <a:prstGeom prst="rect">
            <a:avLst/>
          </a:prstGeom>
          <a:solidFill>
            <a:srgbClr val="1F386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F86FB1E-A7C7-0FA4-1471-2A1C2D6542F6}"/>
              </a:ext>
            </a:extLst>
          </p:cNvPr>
          <p:cNvSpPr txBox="1"/>
          <p:nvPr/>
        </p:nvSpPr>
        <p:spPr>
          <a:xfrm>
            <a:off x="508000" y="190500"/>
            <a:ext cx="11176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2800" b="1">
                <a:solidFill>
                  <a:srgbClr val="FFFFFF"/>
                </a:solidFill>
              </a:rPr>
              <a:t>Unit Testing — 71 Tests, 6 Lambda Handlers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C55E55E-C144-CEF7-6F83-399BB2B3B2DD}"/>
              </a:ext>
            </a:extLst>
          </p:cNvPr>
          <p:cNvSpPr/>
          <p:nvPr/>
        </p:nvSpPr>
        <p:spPr>
          <a:xfrm>
            <a:off x="508000" y="1270000"/>
            <a:ext cx="11049000" cy="863600"/>
          </a:xfrm>
          <a:prstGeom prst="rect">
            <a:avLst/>
          </a:prstGeom>
          <a:solidFill>
            <a:srgbClr val="F5F5F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C42D866-2613-D1D3-5C64-8B95461989C3}"/>
              </a:ext>
            </a:extLst>
          </p:cNvPr>
          <p:cNvSpPr/>
          <p:nvPr/>
        </p:nvSpPr>
        <p:spPr>
          <a:xfrm>
            <a:off x="508000" y="1270000"/>
            <a:ext cx="63500" cy="863600"/>
          </a:xfrm>
          <a:prstGeom prst="rect">
            <a:avLst/>
          </a:prstGeom>
          <a:solidFill>
            <a:srgbClr val="1F386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92791CA-0347-DA4F-87C9-21AFDA531D15}"/>
              </a:ext>
            </a:extLst>
          </p:cNvPr>
          <p:cNvSpPr txBox="1"/>
          <p:nvPr/>
        </p:nvSpPr>
        <p:spPr>
          <a:xfrm>
            <a:off x="698500" y="1371600"/>
            <a:ext cx="6985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100" b="1">
                <a:solidFill>
                  <a:srgbClr val="1E325A"/>
                </a:solidFill>
              </a:rPr>
              <a:t>tests/createUploadUrl.test.js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04BA858-28DE-B08C-1DFE-18F5294E514C}"/>
              </a:ext>
            </a:extLst>
          </p:cNvPr>
          <p:cNvSpPr/>
          <p:nvPr/>
        </p:nvSpPr>
        <p:spPr>
          <a:xfrm>
            <a:off x="8255000" y="1397000"/>
            <a:ext cx="1016000" cy="355600"/>
          </a:xfrm>
          <a:prstGeom prst="rect">
            <a:avLst/>
          </a:prstGeom>
          <a:solidFill>
            <a:srgbClr val="27AE6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B338AC4-2A17-82B4-04C9-5A91A9F45DEE}"/>
              </a:ext>
            </a:extLst>
          </p:cNvPr>
          <p:cNvSpPr txBox="1"/>
          <p:nvPr/>
        </p:nvSpPr>
        <p:spPr>
          <a:xfrm>
            <a:off x="8255000" y="1447800"/>
            <a:ext cx="1016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sz="1000" b="1">
                <a:solidFill>
                  <a:srgbClr val="FFFFFF"/>
                </a:solidFill>
              </a:rPr>
              <a:t>12 tests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5A57E64-B175-BC1D-CFDE-7476D0EC0E26}"/>
              </a:ext>
            </a:extLst>
          </p:cNvPr>
          <p:cNvSpPr txBox="1"/>
          <p:nvPr/>
        </p:nvSpPr>
        <p:spPr>
          <a:xfrm>
            <a:off x="698500" y="1701800"/>
            <a:ext cx="9906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000">
                <a:solidFill>
                  <a:srgbClr val="646464"/>
                </a:solidFill>
              </a:rPr>
              <a:t>Presigned URL shape, jobId fallback, status seed, UUID generation, S3 key format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8E1E0D4-7294-C1C5-6061-18BD48CCB660}"/>
              </a:ext>
            </a:extLst>
          </p:cNvPr>
          <p:cNvSpPr/>
          <p:nvPr/>
        </p:nvSpPr>
        <p:spPr>
          <a:xfrm>
            <a:off x="508000" y="2197100"/>
            <a:ext cx="11049000" cy="863600"/>
          </a:xfrm>
          <a:prstGeom prst="rect">
            <a:avLst/>
          </a:prstGeom>
          <a:solidFill>
            <a:srgbClr val="F5F5F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6123A1F-356F-8114-EF8E-0BFA103E0825}"/>
              </a:ext>
            </a:extLst>
          </p:cNvPr>
          <p:cNvSpPr/>
          <p:nvPr/>
        </p:nvSpPr>
        <p:spPr>
          <a:xfrm>
            <a:off x="508000" y="2197100"/>
            <a:ext cx="63500" cy="863600"/>
          </a:xfrm>
          <a:prstGeom prst="rect">
            <a:avLst/>
          </a:prstGeom>
          <a:solidFill>
            <a:srgbClr val="1F386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A2DD50B-C451-9FC7-F98E-CFD4FC3C4689}"/>
              </a:ext>
            </a:extLst>
          </p:cNvPr>
          <p:cNvSpPr txBox="1"/>
          <p:nvPr/>
        </p:nvSpPr>
        <p:spPr>
          <a:xfrm>
            <a:off x="698500" y="2298700"/>
            <a:ext cx="6985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100" b="1">
                <a:solidFill>
                  <a:srgbClr val="1E325A"/>
                </a:solidFill>
              </a:rPr>
              <a:t>tests/createJob.test.js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BC775BF-F969-F180-507E-313661D4E785}"/>
              </a:ext>
            </a:extLst>
          </p:cNvPr>
          <p:cNvSpPr/>
          <p:nvPr/>
        </p:nvSpPr>
        <p:spPr>
          <a:xfrm>
            <a:off x="8255000" y="2324100"/>
            <a:ext cx="1016000" cy="355600"/>
          </a:xfrm>
          <a:prstGeom prst="rect">
            <a:avLst/>
          </a:prstGeom>
          <a:solidFill>
            <a:srgbClr val="27AE6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01E85FE-B2C2-772E-31D2-6FB86BABCF87}"/>
              </a:ext>
            </a:extLst>
          </p:cNvPr>
          <p:cNvSpPr txBox="1"/>
          <p:nvPr/>
        </p:nvSpPr>
        <p:spPr>
          <a:xfrm>
            <a:off x="8255000" y="2374900"/>
            <a:ext cx="1016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sz="1000" b="1">
                <a:solidFill>
                  <a:srgbClr val="FFFFFF"/>
                </a:solidFill>
              </a:rPr>
              <a:t>11 tests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71206F9-A79D-1B09-9397-7FBD49EFD68E}"/>
              </a:ext>
            </a:extLst>
          </p:cNvPr>
          <p:cNvSpPr txBox="1"/>
          <p:nvPr/>
        </p:nvSpPr>
        <p:spPr>
          <a:xfrm>
            <a:off x="698500" y="2628900"/>
            <a:ext cx="9906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000">
                <a:solidFill>
                  <a:srgbClr val="646464"/>
                </a:solidFill>
              </a:rPr>
              <a:t>403 non-recruiter, 400 missing fields, 201 success, ownerId from JWT, requiredSkills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6DFF20C-DE38-4676-B715-7ED31C401201}"/>
              </a:ext>
            </a:extLst>
          </p:cNvPr>
          <p:cNvSpPr/>
          <p:nvPr/>
        </p:nvSpPr>
        <p:spPr>
          <a:xfrm>
            <a:off x="508000" y="3124200"/>
            <a:ext cx="11049000" cy="863600"/>
          </a:xfrm>
          <a:prstGeom prst="rect">
            <a:avLst/>
          </a:prstGeom>
          <a:solidFill>
            <a:srgbClr val="F5F5F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925FFC1-5C30-85AA-47C2-C110BC46E08C}"/>
              </a:ext>
            </a:extLst>
          </p:cNvPr>
          <p:cNvSpPr/>
          <p:nvPr/>
        </p:nvSpPr>
        <p:spPr>
          <a:xfrm>
            <a:off x="508000" y="3124200"/>
            <a:ext cx="63500" cy="863600"/>
          </a:xfrm>
          <a:prstGeom prst="rect">
            <a:avLst/>
          </a:prstGeom>
          <a:solidFill>
            <a:srgbClr val="1F386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511749F-0DEE-BF12-8F44-2D140C4AACB3}"/>
              </a:ext>
            </a:extLst>
          </p:cNvPr>
          <p:cNvSpPr txBox="1"/>
          <p:nvPr/>
        </p:nvSpPr>
        <p:spPr>
          <a:xfrm>
            <a:off x="698500" y="3225800"/>
            <a:ext cx="6985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100" b="1">
                <a:solidFill>
                  <a:srgbClr val="1E325A"/>
                </a:solidFill>
              </a:rPr>
              <a:t>tests/parseScore.test.js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317CE01-62BB-BFFF-0C3B-E0F93CD15054}"/>
              </a:ext>
            </a:extLst>
          </p:cNvPr>
          <p:cNvSpPr/>
          <p:nvPr/>
        </p:nvSpPr>
        <p:spPr>
          <a:xfrm>
            <a:off x="8255000" y="3251200"/>
            <a:ext cx="1016000" cy="355600"/>
          </a:xfrm>
          <a:prstGeom prst="rect">
            <a:avLst/>
          </a:prstGeom>
          <a:solidFill>
            <a:srgbClr val="27AE6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45BF4B1-5812-9609-C491-023B2695CEC5}"/>
              </a:ext>
            </a:extLst>
          </p:cNvPr>
          <p:cNvSpPr txBox="1"/>
          <p:nvPr/>
        </p:nvSpPr>
        <p:spPr>
          <a:xfrm>
            <a:off x="8255000" y="3302000"/>
            <a:ext cx="1016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sz="1000" b="1">
                <a:solidFill>
                  <a:srgbClr val="FFFFFF"/>
                </a:solidFill>
              </a:rPr>
              <a:t>13 tests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FFFCA94-A954-9350-E5FD-C9C54E88CEF9}"/>
              </a:ext>
            </a:extLst>
          </p:cNvPr>
          <p:cNvSpPr txBox="1"/>
          <p:nvPr/>
        </p:nvSpPr>
        <p:spPr>
          <a:xfrm>
            <a:off x="698500" y="3556000"/>
            <a:ext cx="9906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000">
                <a:solidFill>
                  <a:srgbClr val="646464"/>
                </a:solidFill>
              </a:rPr>
              <a:t>JSON extraction, markdown fence strip, completed write, matchScore in DDB, error paths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B59024B-2113-DEBA-471E-314A663AADEE}"/>
              </a:ext>
            </a:extLst>
          </p:cNvPr>
          <p:cNvSpPr/>
          <p:nvPr/>
        </p:nvSpPr>
        <p:spPr>
          <a:xfrm>
            <a:off x="508000" y="4051300"/>
            <a:ext cx="11049000" cy="863600"/>
          </a:xfrm>
          <a:prstGeom prst="rect">
            <a:avLst/>
          </a:prstGeom>
          <a:solidFill>
            <a:srgbClr val="F5F5F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BD81DCF-78AE-39B2-16DB-FE3911950758}"/>
              </a:ext>
            </a:extLst>
          </p:cNvPr>
          <p:cNvSpPr/>
          <p:nvPr/>
        </p:nvSpPr>
        <p:spPr>
          <a:xfrm>
            <a:off x="508000" y="4051300"/>
            <a:ext cx="63500" cy="863600"/>
          </a:xfrm>
          <a:prstGeom prst="rect">
            <a:avLst/>
          </a:prstGeom>
          <a:solidFill>
            <a:srgbClr val="1F386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B75C70B-DAAD-0B39-6119-5EDB54873F27}"/>
              </a:ext>
            </a:extLst>
          </p:cNvPr>
          <p:cNvSpPr txBox="1"/>
          <p:nvPr/>
        </p:nvSpPr>
        <p:spPr>
          <a:xfrm>
            <a:off x="698500" y="4152900"/>
            <a:ext cx="6985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100" b="1">
                <a:solidFill>
                  <a:srgbClr val="1E325A"/>
                </a:solidFill>
              </a:rPr>
              <a:t>tests/getRankedResults.test.js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B6B3ADA-5960-CC13-CC42-5E258B5762F8}"/>
              </a:ext>
            </a:extLst>
          </p:cNvPr>
          <p:cNvSpPr/>
          <p:nvPr/>
        </p:nvSpPr>
        <p:spPr>
          <a:xfrm>
            <a:off x="8255000" y="4178300"/>
            <a:ext cx="1016000" cy="355600"/>
          </a:xfrm>
          <a:prstGeom prst="rect">
            <a:avLst/>
          </a:prstGeom>
          <a:solidFill>
            <a:srgbClr val="27AE6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F36861A-7B06-8F32-DC70-4E90772694E0}"/>
              </a:ext>
            </a:extLst>
          </p:cNvPr>
          <p:cNvSpPr txBox="1"/>
          <p:nvPr/>
        </p:nvSpPr>
        <p:spPr>
          <a:xfrm>
            <a:off x="8255000" y="4229100"/>
            <a:ext cx="1016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sz="1000" b="1">
                <a:solidFill>
                  <a:srgbClr val="FFFFFF"/>
                </a:solidFill>
              </a:rPr>
              <a:t>14 tests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87F1311-5FD5-236E-83B6-1A16D94F332F}"/>
              </a:ext>
            </a:extLst>
          </p:cNvPr>
          <p:cNvSpPr txBox="1"/>
          <p:nvPr/>
        </p:nvSpPr>
        <p:spPr>
          <a:xfrm>
            <a:off x="698500" y="4483100"/>
            <a:ext cx="9906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000">
                <a:solidFill>
                  <a:srgbClr val="646464"/>
                </a:solidFill>
              </a:rPr>
              <a:t>403 auth, 404 job not found, 200 ranked list, download URL, nextToken pagination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9999216-2F68-5663-6BE6-91B6E97469FD}"/>
              </a:ext>
            </a:extLst>
          </p:cNvPr>
          <p:cNvSpPr/>
          <p:nvPr/>
        </p:nvSpPr>
        <p:spPr>
          <a:xfrm>
            <a:off x="508000" y="4978400"/>
            <a:ext cx="11049000" cy="863600"/>
          </a:xfrm>
          <a:prstGeom prst="rect">
            <a:avLst/>
          </a:prstGeom>
          <a:solidFill>
            <a:srgbClr val="F5F5F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466CA28-5BAE-80DA-BAEC-F433367AF9F8}"/>
              </a:ext>
            </a:extLst>
          </p:cNvPr>
          <p:cNvSpPr/>
          <p:nvPr/>
        </p:nvSpPr>
        <p:spPr>
          <a:xfrm>
            <a:off x="508000" y="4978400"/>
            <a:ext cx="63500" cy="863600"/>
          </a:xfrm>
          <a:prstGeom prst="rect">
            <a:avLst/>
          </a:prstGeom>
          <a:solidFill>
            <a:srgbClr val="1F386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E8D5962-02B2-F797-2357-A889E393F275}"/>
              </a:ext>
            </a:extLst>
          </p:cNvPr>
          <p:cNvSpPr txBox="1"/>
          <p:nvPr/>
        </p:nvSpPr>
        <p:spPr>
          <a:xfrm>
            <a:off x="698500" y="5080000"/>
            <a:ext cx="6985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100" b="1">
                <a:solidFill>
                  <a:srgbClr val="1E325A"/>
                </a:solidFill>
              </a:rPr>
              <a:t>tests/queryApi.test.js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346586B-4D54-D212-E6E8-7F766254A0E4}"/>
              </a:ext>
            </a:extLst>
          </p:cNvPr>
          <p:cNvSpPr/>
          <p:nvPr/>
        </p:nvSpPr>
        <p:spPr>
          <a:xfrm>
            <a:off x="8255000" y="5105400"/>
            <a:ext cx="1016000" cy="355600"/>
          </a:xfrm>
          <a:prstGeom prst="rect">
            <a:avLst/>
          </a:prstGeom>
          <a:solidFill>
            <a:srgbClr val="27AE6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57716F9-25DA-3A34-2BA3-CB0B335DEEF6}"/>
              </a:ext>
            </a:extLst>
          </p:cNvPr>
          <p:cNvSpPr txBox="1"/>
          <p:nvPr/>
        </p:nvSpPr>
        <p:spPr>
          <a:xfrm>
            <a:off x="8255000" y="5156200"/>
            <a:ext cx="1016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sz="1000" b="1">
                <a:solidFill>
                  <a:srgbClr val="FFFFFF"/>
                </a:solidFill>
              </a:rPr>
              <a:t>12 tests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0C8BC5B-01FE-17FF-0ABF-3EBCF42AC416}"/>
              </a:ext>
            </a:extLst>
          </p:cNvPr>
          <p:cNvSpPr txBox="1"/>
          <p:nvPr/>
        </p:nvSpPr>
        <p:spPr>
          <a:xfrm>
            <a:off x="698500" y="5410200"/>
            <a:ext cx="9906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000">
                <a:solidFill>
                  <a:srgbClr val="646464"/>
                </a:solidFill>
              </a:rPr>
              <a:t>GET /jobs, GET /results, GET /my-results, 404 unknown route, pagination, auth checks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C6B6187A-326E-C930-E039-E8FBA5948720}"/>
              </a:ext>
            </a:extLst>
          </p:cNvPr>
          <p:cNvSpPr/>
          <p:nvPr/>
        </p:nvSpPr>
        <p:spPr>
          <a:xfrm>
            <a:off x="508000" y="5905500"/>
            <a:ext cx="11049000" cy="863600"/>
          </a:xfrm>
          <a:prstGeom prst="rect">
            <a:avLst/>
          </a:prstGeom>
          <a:solidFill>
            <a:srgbClr val="F5F5F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59FC2656-CF83-BD6E-0DA1-EAD462DE12CA}"/>
              </a:ext>
            </a:extLst>
          </p:cNvPr>
          <p:cNvSpPr/>
          <p:nvPr/>
        </p:nvSpPr>
        <p:spPr>
          <a:xfrm>
            <a:off x="508000" y="5905500"/>
            <a:ext cx="63500" cy="863600"/>
          </a:xfrm>
          <a:prstGeom prst="rect">
            <a:avLst/>
          </a:prstGeom>
          <a:solidFill>
            <a:srgbClr val="1F386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DB734FB-76D1-95A7-195B-8557E97EF810}"/>
              </a:ext>
            </a:extLst>
          </p:cNvPr>
          <p:cNvSpPr txBox="1"/>
          <p:nvPr/>
        </p:nvSpPr>
        <p:spPr>
          <a:xfrm>
            <a:off x="698500" y="6007100"/>
            <a:ext cx="6985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100" b="1">
                <a:solidFill>
                  <a:srgbClr val="1E325A"/>
                </a:solidFill>
              </a:rPr>
              <a:t>tests/ingestUpload.test.js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0D2100FF-B933-EADD-8687-6F5CA855F8B8}"/>
              </a:ext>
            </a:extLst>
          </p:cNvPr>
          <p:cNvSpPr/>
          <p:nvPr/>
        </p:nvSpPr>
        <p:spPr>
          <a:xfrm>
            <a:off x="8255000" y="6032500"/>
            <a:ext cx="1016000" cy="355600"/>
          </a:xfrm>
          <a:prstGeom prst="rect">
            <a:avLst/>
          </a:prstGeom>
          <a:solidFill>
            <a:srgbClr val="27AE6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142393B-1E9A-4F77-E765-565E1C1CB387}"/>
              </a:ext>
            </a:extLst>
          </p:cNvPr>
          <p:cNvSpPr txBox="1"/>
          <p:nvPr/>
        </p:nvSpPr>
        <p:spPr>
          <a:xfrm>
            <a:off x="8255000" y="6083300"/>
            <a:ext cx="1016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sz="1000" b="1">
                <a:solidFill>
                  <a:srgbClr val="FFFFFF"/>
                </a:solidFill>
              </a:rPr>
              <a:t>11 tests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1B75764-3E7A-1410-51BE-C7A51611AB01}"/>
              </a:ext>
            </a:extLst>
          </p:cNvPr>
          <p:cNvSpPr txBox="1"/>
          <p:nvPr/>
        </p:nvSpPr>
        <p:spPr>
          <a:xfrm>
            <a:off x="698500" y="6337300"/>
            <a:ext cx="9906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000">
                <a:solidFill>
                  <a:srgbClr val="646464"/>
                </a:solidFill>
              </a:rPr>
              <a:t>4-segment key parse, 3/2-segment legacy fallback, multi-record, URL decode, skip invalid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53FF29D-C42C-509F-A6DB-758C775F11E0}"/>
              </a:ext>
            </a:extLst>
          </p:cNvPr>
          <p:cNvSpPr txBox="1"/>
          <p:nvPr/>
        </p:nvSpPr>
        <p:spPr>
          <a:xfrm>
            <a:off x="508000" y="6883400"/>
            <a:ext cx="11176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sz="1000">
                <a:solidFill>
                  <a:srgbClr val="646464"/>
                </a:solidFill>
              </a:rPr>
              <a:t>Tool: aws-sdk-client-mock v4  •  Jest moduleNameMapper forces all @aws-sdk/* to root node_modules  •  No AWS credentials needed</a:t>
            </a:r>
          </a:p>
        </p:txBody>
      </p:sp>
    </p:spTree>
    <p:extLst>
      <p:ext uri="{BB962C8B-B14F-4D97-AF65-F5344CB8AC3E}">
        <p14:creationId xmlns:p14="http://schemas.microsoft.com/office/powerpoint/2010/main" val="9275356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E1D8A19-B463-F0D5-095B-4708F7129858}"/>
              </a:ext>
            </a:extLst>
          </p:cNvPr>
          <p:cNvSpPr/>
          <p:nvPr/>
        </p:nvSpPr>
        <p:spPr>
          <a:xfrm>
            <a:off x="0" y="0"/>
            <a:ext cx="12192000" cy="1016000"/>
          </a:xfrm>
          <a:prstGeom prst="rect">
            <a:avLst/>
          </a:prstGeom>
          <a:solidFill>
            <a:srgbClr val="1F386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B7B1149-0F1C-B4FE-98BE-76E419012302}"/>
              </a:ext>
            </a:extLst>
          </p:cNvPr>
          <p:cNvSpPr txBox="1"/>
          <p:nvPr/>
        </p:nvSpPr>
        <p:spPr>
          <a:xfrm>
            <a:off x="508000" y="190500"/>
            <a:ext cx="11176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2800" b="1">
                <a:solidFill>
                  <a:srgbClr val="FFFFFF"/>
                </a:solidFill>
              </a:rPr>
              <a:t>Limitations &amp; Future Work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AD0363E-CBCC-E6BA-B31F-33A85DB055D0}"/>
              </a:ext>
            </a:extLst>
          </p:cNvPr>
          <p:cNvSpPr txBox="1"/>
          <p:nvPr/>
        </p:nvSpPr>
        <p:spPr>
          <a:xfrm>
            <a:off x="508000" y="1143000"/>
            <a:ext cx="6350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fr-FR" sz="1400" b="1">
                <a:solidFill>
                  <a:srgbClr val="1F3864"/>
                </a:solidFill>
              </a:rPr>
              <a:t>Current Limitations (Learner Lab constraints)</a:t>
            </a:r>
            <a:endParaRPr lang="en-US" sz="1400" b="1">
              <a:solidFill>
                <a:srgbClr val="1F3864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AE8A7E2-6C72-23B1-CACA-D2A688143FF2}"/>
              </a:ext>
            </a:extLst>
          </p:cNvPr>
          <p:cNvSpPr txBox="1"/>
          <p:nvPr/>
        </p:nvSpPr>
        <p:spPr>
          <a:xfrm>
            <a:off x="635000" y="1524000"/>
            <a:ext cx="10922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100">
                <a:solidFill>
                  <a:srgbClr val="E67E22"/>
                </a:solidFill>
              </a:rPr>
              <a:t>⚠  No per-Lambda IAM roles — LabRole blocks CreateRole; single shared overpermissioned role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A6B328F-44C4-D872-1361-5B48C5EEADEA}"/>
              </a:ext>
            </a:extLst>
          </p:cNvPr>
          <p:cNvSpPr txBox="1"/>
          <p:nvPr/>
        </p:nvSpPr>
        <p:spPr>
          <a:xfrm>
            <a:off x="635000" y="1943100"/>
            <a:ext cx="10922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100">
                <a:solidFill>
                  <a:srgbClr val="E67E22"/>
                </a:solidFill>
              </a:rPr>
              <a:t>⚠  No AWS WAF — requires REST API; HTTP API does not support WAF integration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1822AB0-94D7-BC7E-09C4-40F9A80FDB49}"/>
              </a:ext>
            </a:extLst>
          </p:cNvPr>
          <p:cNvSpPr txBox="1"/>
          <p:nvPr/>
        </p:nvSpPr>
        <p:spPr>
          <a:xfrm>
            <a:off x="635000" y="2362200"/>
            <a:ext cx="10922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100">
                <a:solidFill>
                  <a:srgbClr val="E67E22"/>
                </a:solidFill>
              </a:rPr>
              <a:t>⚠  External AI API (Hugging Face) — Bedrock unavailable; adds latency + external dependency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9C91782-D494-92AB-EA91-5B13ED6972F3}"/>
              </a:ext>
            </a:extLst>
          </p:cNvPr>
          <p:cNvSpPr txBox="1"/>
          <p:nvPr/>
        </p:nvSpPr>
        <p:spPr>
          <a:xfrm>
            <a:off x="635000" y="2781300"/>
            <a:ext cx="10922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100">
                <a:solidFill>
                  <a:srgbClr val="E67E22"/>
                </a:solidFill>
              </a:rPr>
              <a:t>⚠  No CloudFront CDN — CreateDistribution blocked by LabRole policy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320B987-58CF-F551-59B9-03FE48665C5E}"/>
              </a:ext>
            </a:extLst>
          </p:cNvPr>
          <p:cNvSpPr txBox="1"/>
          <p:nvPr/>
        </p:nvSpPr>
        <p:spPr>
          <a:xfrm>
            <a:off x="635000" y="3200400"/>
            <a:ext cx="10922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100">
                <a:solidFill>
                  <a:srgbClr val="E67E22"/>
                </a:solidFill>
              </a:rPr>
              <a:t>⚠  No X-Ray distributed tracing — xray:PutTraceSegments blocked by LabRole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BA14A53-EB80-C601-6065-E803D43FC819}"/>
              </a:ext>
            </a:extLst>
          </p:cNvPr>
          <p:cNvSpPr/>
          <p:nvPr/>
        </p:nvSpPr>
        <p:spPr>
          <a:xfrm>
            <a:off x="508000" y="3746500"/>
            <a:ext cx="11176000" cy="25400"/>
          </a:xfrm>
          <a:prstGeom prst="rect">
            <a:avLst/>
          </a:prstGeom>
          <a:solidFill>
            <a:srgbClr val="DCDCD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006AA13-9EE1-B7AD-1B37-B86C46B27AA7}"/>
              </a:ext>
            </a:extLst>
          </p:cNvPr>
          <p:cNvSpPr txBox="1"/>
          <p:nvPr/>
        </p:nvSpPr>
        <p:spPr>
          <a:xfrm>
            <a:off x="508000" y="3937000"/>
            <a:ext cx="6350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400" b="1">
                <a:solidFill>
                  <a:srgbClr val="1F3864"/>
                </a:solidFill>
              </a:rPr>
              <a:t>Future Enhancements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C7F0C1A-495D-D254-F540-55397990DA35}"/>
              </a:ext>
            </a:extLst>
          </p:cNvPr>
          <p:cNvSpPr txBox="1"/>
          <p:nvPr/>
        </p:nvSpPr>
        <p:spPr>
          <a:xfrm>
            <a:off x="635000" y="4318000"/>
            <a:ext cx="10922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100">
                <a:solidFill>
                  <a:srgbClr val="27AE60"/>
                </a:solidFill>
              </a:rPr>
              <a:t>→  Migrate AI scoring to Amazon Bedrock (Claude 3 Haiku) — eliminate external dependency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01AC05D-D961-980C-3B78-0B45F64D112B}"/>
              </a:ext>
            </a:extLst>
          </p:cNvPr>
          <p:cNvSpPr txBox="1"/>
          <p:nvPr/>
        </p:nvSpPr>
        <p:spPr>
          <a:xfrm>
            <a:off x="635000" y="4737100"/>
            <a:ext cx="10922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100">
                <a:solidFill>
                  <a:srgbClr val="27AE60"/>
                </a:solidFill>
              </a:rPr>
              <a:t>→  WebSocket API for real-time notifications (replace 5s polling loop)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13CE832-C4A1-920A-CDBA-C3E7DF704F2E}"/>
              </a:ext>
            </a:extLst>
          </p:cNvPr>
          <p:cNvSpPr txBox="1"/>
          <p:nvPr/>
        </p:nvSpPr>
        <p:spPr>
          <a:xfrm>
            <a:off x="635000" y="5156200"/>
            <a:ext cx="10922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100">
                <a:solidFill>
                  <a:srgbClr val="27AE60"/>
                </a:solidFill>
              </a:rPr>
              <a:t>→  Resume versioning — track score improvement across multiple uploads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BEE9B25-A4F0-11E2-D3B0-01DD6C010731}"/>
              </a:ext>
            </a:extLst>
          </p:cNvPr>
          <p:cNvSpPr txBox="1"/>
          <p:nvPr/>
        </p:nvSpPr>
        <p:spPr>
          <a:xfrm>
            <a:off x="635000" y="5575300"/>
            <a:ext cx="10922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100">
                <a:solidFill>
                  <a:srgbClr val="27AE60"/>
                </a:solidFill>
              </a:rPr>
              <a:t>→  Multi-region active-passive with DynamoDB Global Tables + Route 53 failover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0D0914D-9A6A-E428-8B93-D37CE9B10276}"/>
              </a:ext>
            </a:extLst>
          </p:cNvPr>
          <p:cNvSpPr txBox="1"/>
          <p:nvPr/>
        </p:nvSpPr>
        <p:spPr>
          <a:xfrm>
            <a:off x="635000" y="5994400"/>
            <a:ext cx="10922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100">
                <a:solidFill>
                  <a:srgbClr val="27AE60"/>
                </a:solidFill>
              </a:rPr>
              <a:t>→  DynamoDB PITR + WAF + per-Lambda execution roles for production hardening</a:t>
            </a:r>
          </a:p>
        </p:txBody>
      </p:sp>
    </p:spTree>
    <p:extLst>
      <p:ext uri="{BB962C8B-B14F-4D97-AF65-F5344CB8AC3E}">
        <p14:creationId xmlns:p14="http://schemas.microsoft.com/office/powerpoint/2010/main" val="10555747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595FE90-444A-551F-B245-E1CA04F885A6}"/>
              </a:ext>
            </a:extLst>
          </p:cNvPr>
          <p:cNvSpPr/>
          <p:nvPr/>
        </p:nvSpPr>
        <p:spPr>
          <a:xfrm>
            <a:off x="0" y="0"/>
            <a:ext cx="12192000" cy="1016000"/>
          </a:xfrm>
          <a:prstGeom prst="rect">
            <a:avLst/>
          </a:prstGeom>
          <a:solidFill>
            <a:srgbClr val="1F386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CA51C33-0423-1B85-6E99-16B1247CE81A}"/>
              </a:ext>
            </a:extLst>
          </p:cNvPr>
          <p:cNvSpPr txBox="1"/>
          <p:nvPr/>
        </p:nvSpPr>
        <p:spPr>
          <a:xfrm>
            <a:off x="508000" y="190500"/>
            <a:ext cx="11176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2800" b="1">
                <a:solidFill>
                  <a:srgbClr val="FFFFFF"/>
                </a:solidFill>
              </a:rPr>
              <a:t>Key Achievements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431C2D6-3C29-1DAA-7BA0-27A4578553BA}"/>
              </a:ext>
            </a:extLst>
          </p:cNvPr>
          <p:cNvSpPr/>
          <p:nvPr/>
        </p:nvSpPr>
        <p:spPr>
          <a:xfrm>
            <a:off x="381000" y="1333500"/>
            <a:ext cx="3556000" cy="2222500"/>
          </a:xfrm>
          <a:prstGeom prst="rect">
            <a:avLst/>
          </a:prstGeom>
          <a:solidFill>
            <a:srgbClr val="F5F5F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7AB0704-B180-23B7-AB96-85E637FCB41C}"/>
              </a:ext>
            </a:extLst>
          </p:cNvPr>
          <p:cNvSpPr/>
          <p:nvPr/>
        </p:nvSpPr>
        <p:spPr>
          <a:xfrm>
            <a:off x="381000" y="1333500"/>
            <a:ext cx="3556000" cy="63500"/>
          </a:xfrm>
          <a:prstGeom prst="rect">
            <a:avLst/>
          </a:prstGeom>
          <a:solidFill>
            <a:srgbClr val="2980B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D112ED1-7E76-C4BD-693E-F0492FA2A239}"/>
              </a:ext>
            </a:extLst>
          </p:cNvPr>
          <p:cNvSpPr txBox="1"/>
          <p:nvPr/>
        </p:nvSpPr>
        <p:spPr>
          <a:xfrm>
            <a:off x="508000" y="1587500"/>
            <a:ext cx="3302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sz="3600" b="1">
                <a:solidFill>
                  <a:srgbClr val="2980B9"/>
                </a:solidFill>
              </a:rPr>
              <a:t>25+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8978D7A-B628-437D-C513-DEF9BFE177EB}"/>
              </a:ext>
            </a:extLst>
          </p:cNvPr>
          <p:cNvSpPr txBox="1"/>
          <p:nvPr/>
        </p:nvSpPr>
        <p:spPr>
          <a:xfrm>
            <a:off x="508000" y="2324100"/>
            <a:ext cx="3302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sz="1400" b="1">
                <a:solidFill>
                  <a:srgbClr val="1F3864"/>
                </a:solidFill>
              </a:rPr>
              <a:t>AWS Resources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CA0EEF7-1DAF-AFF0-C4BE-EC905953B65C}"/>
              </a:ext>
            </a:extLst>
          </p:cNvPr>
          <p:cNvSpPr txBox="1"/>
          <p:nvPr/>
        </p:nvSpPr>
        <p:spPr>
          <a:xfrm>
            <a:off x="508000" y="2667000"/>
            <a:ext cx="3302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sz="1000">
                <a:solidFill>
                  <a:srgbClr val="646464"/>
                </a:solidFill>
              </a:rPr>
              <a:t>Fully provisioned via Terraform IaC — one command deploys everything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FF0A1DA-560F-F0B9-144B-E1DC9B36DEF3}"/>
              </a:ext>
            </a:extLst>
          </p:cNvPr>
          <p:cNvSpPr/>
          <p:nvPr/>
        </p:nvSpPr>
        <p:spPr>
          <a:xfrm>
            <a:off x="4318000" y="1333500"/>
            <a:ext cx="3556000" cy="2222500"/>
          </a:xfrm>
          <a:prstGeom prst="rect">
            <a:avLst/>
          </a:prstGeom>
          <a:solidFill>
            <a:srgbClr val="F5F5F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CF91597-0E05-9659-CB2F-740507681F57}"/>
              </a:ext>
            </a:extLst>
          </p:cNvPr>
          <p:cNvSpPr/>
          <p:nvPr/>
        </p:nvSpPr>
        <p:spPr>
          <a:xfrm>
            <a:off x="4318000" y="1333500"/>
            <a:ext cx="3556000" cy="63500"/>
          </a:xfrm>
          <a:prstGeom prst="rect">
            <a:avLst/>
          </a:prstGeom>
          <a:solidFill>
            <a:srgbClr val="27AE6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1BF6CBF-52B9-8542-AA8F-D2F7A31C5CB6}"/>
              </a:ext>
            </a:extLst>
          </p:cNvPr>
          <p:cNvSpPr txBox="1"/>
          <p:nvPr/>
        </p:nvSpPr>
        <p:spPr>
          <a:xfrm>
            <a:off x="4445000" y="1587500"/>
            <a:ext cx="3302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sz="3600" b="1">
                <a:solidFill>
                  <a:srgbClr val="27AE60"/>
                </a:solidFill>
              </a:rPr>
              <a:t>71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3B70FCB-5F98-7CD7-81F7-E83E99FAF28B}"/>
              </a:ext>
            </a:extLst>
          </p:cNvPr>
          <p:cNvSpPr txBox="1"/>
          <p:nvPr/>
        </p:nvSpPr>
        <p:spPr>
          <a:xfrm>
            <a:off x="4445000" y="2324100"/>
            <a:ext cx="3302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sz="1400" b="1">
                <a:solidFill>
                  <a:srgbClr val="1F3864"/>
                </a:solidFill>
              </a:rPr>
              <a:t>Unit Tests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C66B237-7288-DC4C-4F18-AB32FF7DB6D0}"/>
              </a:ext>
            </a:extLst>
          </p:cNvPr>
          <p:cNvSpPr txBox="1"/>
          <p:nvPr/>
        </p:nvSpPr>
        <p:spPr>
          <a:xfrm>
            <a:off x="4445000" y="2667000"/>
            <a:ext cx="3302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sz="1000">
                <a:solidFill>
                  <a:srgbClr val="646464"/>
                </a:solidFill>
              </a:rPr>
              <a:t>All Lambda business logic covered; tests gate every CI deploy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4A01F7D-AC16-F75E-315C-406E9807DE8B}"/>
              </a:ext>
            </a:extLst>
          </p:cNvPr>
          <p:cNvSpPr/>
          <p:nvPr/>
        </p:nvSpPr>
        <p:spPr>
          <a:xfrm>
            <a:off x="8255000" y="1333500"/>
            <a:ext cx="3556000" cy="2222500"/>
          </a:xfrm>
          <a:prstGeom prst="rect">
            <a:avLst/>
          </a:prstGeom>
          <a:solidFill>
            <a:srgbClr val="F5F5F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9A4DC9C-8571-8407-DB5B-D065E2CC5A07}"/>
              </a:ext>
            </a:extLst>
          </p:cNvPr>
          <p:cNvSpPr/>
          <p:nvPr/>
        </p:nvSpPr>
        <p:spPr>
          <a:xfrm>
            <a:off x="8255000" y="1333500"/>
            <a:ext cx="3556000" cy="63500"/>
          </a:xfrm>
          <a:prstGeom prst="rect">
            <a:avLst/>
          </a:prstGeom>
          <a:solidFill>
            <a:srgbClr val="8E44A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0896834-62FC-7B03-BE63-CC0780AA8F68}"/>
              </a:ext>
            </a:extLst>
          </p:cNvPr>
          <p:cNvSpPr txBox="1"/>
          <p:nvPr/>
        </p:nvSpPr>
        <p:spPr>
          <a:xfrm>
            <a:off x="8382000" y="1587500"/>
            <a:ext cx="3302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sz="3600" b="1">
                <a:solidFill>
                  <a:srgbClr val="8E44AD"/>
                </a:solidFill>
              </a:rPr>
              <a:t>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41EA816-B20A-06E5-F6BA-CED554538FC8}"/>
              </a:ext>
            </a:extLst>
          </p:cNvPr>
          <p:cNvSpPr txBox="1"/>
          <p:nvPr/>
        </p:nvSpPr>
        <p:spPr>
          <a:xfrm>
            <a:off x="8382000" y="2324100"/>
            <a:ext cx="3302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sz="1400" b="1">
                <a:solidFill>
                  <a:srgbClr val="1F3864"/>
                </a:solidFill>
              </a:rPr>
              <a:t>Pillars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C7ED256-A62A-9D6E-1FE2-79351179E28E}"/>
              </a:ext>
            </a:extLst>
          </p:cNvPr>
          <p:cNvSpPr txBox="1"/>
          <p:nvPr/>
        </p:nvSpPr>
        <p:spPr>
          <a:xfrm>
            <a:off x="8382000" y="2667000"/>
            <a:ext cx="3302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sz="1000">
                <a:solidFill>
                  <a:srgbClr val="646464"/>
                </a:solidFill>
              </a:rPr>
              <a:t>All 6 AWS Well-Architected Framework pillars implemented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82FFE38-67C8-E56F-4D6F-12881A753730}"/>
              </a:ext>
            </a:extLst>
          </p:cNvPr>
          <p:cNvSpPr/>
          <p:nvPr/>
        </p:nvSpPr>
        <p:spPr>
          <a:xfrm>
            <a:off x="381000" y="3873500"/>
            <a:ext cx="3556000" cy="2222500"/>
          </a:xfrm>
          <a:prstGeom prst="rect">
            <a:avLst/>
          </a:prstGeom>
          <a:solidFill>
            <a:srgbClr val="F5F5F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61F7233-20ED-8150-DDA4-92B90BF87D38}"/>
              </a:ext>
            </a:extLst>
          </p:cNvPr>
          <p:cNvSpPr/>
          <p:nvPr/>
        </p:nvSpPr>
        <p:spPr>
          <a:xfrm>
            <a:off x="381000" y="3873500"/>
            <a:ext cx="3556000" cy="63500"/>
          </a:xfrm>
          <a:prstGeom prst="rect">
            <a:avLst/>
          </a:prstGeom>
          <a:solidFill>
            <a:srgbClr val="E67E2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9EF950A-5DBB-F063-3C1F-762A7C0FBD98}"/>
              </a:ext>
            </a:extLst>
          </p:cNvPr>
          <p:cNvSpPr txBox="1"/>
          <p:nvPr/>
        </p:nvSpPr>
        <p:spPr>
          <a:xfrm>
            <a:off x="508000" y="4127500"/>
            <a:ext cx="3302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sz="3600" b="1">
                <a:solidFill>
                  <a:srgbClr val="E67E22"/>
                </a:solidFill>
              </a:rPr>
              <a:t>0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E400E6D-4E2A-F252-C2FD-921F24A02CD4}"/>
              </a:ext>
            </a:extLst>
          </p:cNvPr>
          <p:cNvSpPr txBox="1"/>
          <p:nvPr/>
        </p:nvSpPr>
        <p:spPr>
          <a:xfrm>
            <a:off x="508000" y="4864100"/>
            <a:ext cx="3302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sz="1400" b="1">
                <a:solidFill>
                  <a:srgbClr val="1F3864"/>
                </a:solidFill>
              </a:rPr>
              <a:t>Idle Cost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C1E9BCD-F223-419B-E7AB-6D0F2878EB59}"/>
              </a:ext>
            </a:extLst>
          </p:cNvPr>
          <p:cNvSpPr txBox="1"/>
          <p:nvPr/>
        </p:nvSpPr>
        <p:spPr>
          <a:xfrm>
            <a:off x="508000" y="5207000"/>
            <a:ext cx="3302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sz="1000">
                <a:solidFill>
                  <a:srgbClr val="646464"/>
                </a:solidFill>
              </a:rPr>
              <a:t>Fully serverless — zero cost when no users are active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D30DA44-510C-04FD-7A74-D19BF00019DF}"/>
              </a:ext>
            </a:extLst>
          </p:cNvPr>
          <p:cNvSpPr/>
          <p:nvPr/>
        </p:nvSpPr>
        <p:spPr>
          <a:xfrm>
            <a:off x="4318000" y="3873500"/>
            <a:ext cx="3556000" cy="2222500"/>
          </a:xfrm>
          <a:prstGeom prst="rect">
            <a:avLst/>
          </a:prstGeom>
          <a:solidFill>
            <a:srgbClr val="F5F5F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E60887B-11DD-0648-792A-176D28E39CB3}"/>
              </a:ext>
            </a:extLst>
          </p:cNvPr>
          <p:cNvSpPr/>
          <p:nvPr/>
        </p:nvSpPr>
        <p:spPr>
          <a:xfrm>
            <a:off x="4318000" y="3873500"/>
            <a:ext cx="3556000" cy="63500"/>
          </a:xfrm>
          <a:prstGeom prst="rect">
            <a:avLst/>
          </a:prstGeom>
          <a:solidFill>
            <a:srgbClr val="C0392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376A44C-E14F-D55F-027D-DFD107E3185B}"/>
              </a:ext>
            </a:extLst>
          </p:cNvPr>
          <p:cNvSpPr txBox="1"/>
          <p:nvPr/>
        </p:nvSpPr>
        <p:spPr>
          <a:xfrm>
            <a:off x="4445000" y="4127500"/>
            <a:ext cx="3302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sz="3600" b="1">
                <a:solidFill>
                  <a:srgbClr val="C0392B"/>
                </a:solidFill>
              </a:rPr>
              <a:t>&lt;3s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D863DF1-F57F-8D2A-F35D-5F10A1484F85}"/>
              </a:ext>
            </a:extLst>
          </p:cNvPr>
          <p:cNvSpPr txBox="1"/>
          <p:nvPr/>
        </p:nvSpPr>
        <p:spPr>
          <a:xfrm>
            <a:off x="4445000" y="4864100"/>
            <a:ext cx="3302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sz="1400" b="1">
                <a:solidFill>
                  <a:srgbClr val="1F3864"/>
                </a:solidFill>
              </a:rPr>
              <a:t>Upload Time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74D8920-7F38-EC69-F5F2-8789E64F61CE}"/>
              </a:ext>
            </a:extLst>
          </p:cNvPr>
          <p:cNvSpPr txBox="1"/>
          <p:nvPr/>
        </p:nvSpPr>
        <p:spPr>
          <a:xfrm>
            <a:off x="4445000" y="5207000"/>
            <a:ext cx="3302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sz="1000">
                <a:solidFill>
                  <a:srgbClr val="646464"/>
                </a:solidFill>
              </a:rPr>
              <a:t>Presigned S3 URL bypasses Lambda; direct browser → S3 upload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E4ADA91F-84B2-FBAA-B0F3-CE210318D54B}"/>
              </a:ext>
            </a:extLst>
          </p:cNvPr>
          <p:cNvSpPr/>
          <p:nvPr/>
        </p:nvSpPr>
        <p:spPr>
          <a:xfrm>
            <a:off x="8255000" y="3873500"/>
            <a:ext cx="3556000" cy="2222500"/>
          </a:xfrm>
          <a:prstGeom prst="rect">
            <a:avLst/>
          </a:prstGeom>
          <a:solidFill>
            <a:srgbClr val="F5F5F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ECAD754-A1B9-5B90-F312-1AEAF3FE933A}"/>
              </a:ext>
            </a:extLst>
          </p:cNvPr>
          <p:cNvSpPr/>
          <p:nvPr/>
        </p:nvSpPr>
        <p:spPr>
          <a:xfrm>
            <a:off x="8255000" y="3873500"/>
            <a:ext cx="3556000" cy="63500"/>
          </a:xfrm>
          <a:prstGeom prst="rect">
            <a:avLst/>
          </a:prstGeom>
          <a:solidFill>
            <a:srgbClr val="16A08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F2C2CD1-5947-DA0E-DDB8-B45CC473FF36}"/>
              </a:ext>
            </a:extLst>
          </p:cNvPr>
          <p:cNvSpPr txBox="1"/>
          <p:nvPr/>
        </p:nvSpPr>
        <p:spPr>
          <a:xfrm>
            <a:off x="8382000" y="4127500"/>
            <a:ext cx="3302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sz="3600" b="1">
                <a:solidFill>
                  <a:srgbClr val="16A085"/>
                </a:solidFill>
              </a:rPr>
              <a:t>~90s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E7CB3BC-60D5-844D-F7BB-2A3AB44D5D09}"/>
              </a:ext>
            </a:extLst>
          </p:cNvPr>
          <p:cNvSpPr txBox="1"/>
          <p:nvPr/>
        </p:nvSpPr>
        <p:spPr>
          <a:xfrm>
            <a:off x="8382000" y="4864100"/>
            <a:ext cx="3302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sz="1400" b="1">
                <a:solidFill>
                  <a:srgbClr val="1F3864"/>
                </a:solidFill>
              </a:rPr>
              <a:t>AI Analysis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6E3B66D-26E6-B48E-076A-ECD5B7C5A0ED}"/>
              </a:ext>
            </a:extLst>
          </p:cNvPr>
          <p:cNvSpPr txBox="1"/>
          <p:nvPr/>
        </p:nvSpPr>
        <p:spPr>
          <a:xfrm>
            <a:off x="8382000" y="5207000"/>
            <a:ext cx="3302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sz="1000">
                <a:solidFill>
                  <a:srgbClr val="646464"/>
                </a:solidFill>
              </a:rPr>
              <a:t>End-to-end: Textract + HF LLM scoring + DynamoDB write</a:t>
            </a:r>
          </a:p>
        </p:txBody>
      </p:sp>
    </p:spTree>
    <p:extLst>
      <p:ext uri="{BB962C8B-B14F-4D97-AF65-F5344CB8AC3E}">
        <p14:creationId xmlns:p14="http://schemas.microsoft.com/office/powerpoint/2010/main" val="4244648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D69B1FF-B4A3-38DF-5636-F58717F444B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F386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45F71B7-B3B8-132B-764B-BD271BF1BD12}"/>
              </a:ext>
            </a:extLst>
          </p:cNvPr>
          <p:cNvSpPr/>
          <p:nvPr/>
        </p:nvSpPr>
        <p:spPr>
          <a:xfrm>
            <a:off x="0" y="4953000"/>
            <a:ext cx="12192000" cy="1905000"/>
          </a:xfrm>
          <a:prstGeom prst="rect">
            <a:avLst/>
          </a:prstGeom>
          <a:solidFill>
            <a:srgbClr val="14285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89CE8C9-9742-845F-A8BB-E6F80A1A99E8}"/>
              </a:ext>
            </a:extLst>
          </p:cNvPr>
          <p:cNvSpPr txBox="1"/>
          <p:nvPr/>
        </p:nvSpPr>
        <p:spPr>
          <a:xfrm>
            <a:off x="762000" y="1270000"/>
            <a:ext cx="10668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sz="4800" b="1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C578243-4B35-890C-0DB4-A29B3B0BED36}"/>
              </a:ext>
            </a:extLst>
          </p:cNvPr>
          <p:cNvSpPr txBox="1"/>
          <p:nvPr/>
        </p:nvSpPr>
        <p:spPr>
          <a:xfrm>
            <a:off x="762000" y="2222500"/>
            <a:ext cx="10668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sz="2800">
                <a:solidFill>
                  <a:srgbClr val="96B4FF"/>
                </a:solidFill>
              </a:rPr>
              <a:t>Questions?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6957160-720E-D696-4C30-14AB1E6E11AD}"/>
              </a:ext>
            </a:extLst>
          </p:cNvPr>
          <p:cNvSpPr txBox="1"/>
          <p:nvPr/>
        </p:nvSpPr>
        <p:spPr>
          <a:xfrm>
            <a:off x="762000" y="3302000"/>
            <a:ext cx="2540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400" b="1">
                <a:solidFill>
                  <a:srgbClr val="96B4FF"/>
                </a:solidFill>
              </a:rPr>
              <a:t>Live Demo: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B803C68-2CD8-7726-E196-7B59F470FF80}"/>
              </a:ext>
            </a:extLst>
          </p:cNvPr>
          <p:cNvSpPr txBox="1"/>
          <p:nvPr/>
        </p:nvSpPr>
        <p:spPr>
          <a:xfrm>
            <a:off x="762000" y="3619500"/>
            <a:ext cx="10668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200">
                <a:solidFill>
                  <a:srgbClr val="78A0DC"/>
                </a:solidFill>
              </a:rPr>
              <a:t>https://1kfy7uhnkl.execute-api.us-east-1.amazonaws.com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C5ACCAA-6445-7422-5AF3-18C58C5E118C}"/>
              </a:ext>
            </a:extLst>
          </p:cNvPr>
          <p:cNvSpPr txBox="1"/>
          <p:nvPr/>
        </p:nvSpPr>
        <p:spPr>
          <a:xfrm>
            <a:off x="762000" y="4038600"/>
            <a:ext cx="2540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400" b="1">
                <a:solidFill>
                  <a:srgbClr val="96B4FF"/>
                </a:solidFill>
              </a:rPr>
              <a:t>GitHub Repository: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4C9D4E8-7577-AC29-B5B6-BE86E9FC28B3}"/>
              </a:ext>
            </a:extLst>
          </p:cNvPr>
          <p:cNvSpPr txBox="1"/>
          <p:nvPr/>
        </p:nvSpPr>
        <p:spPr>
          <a:xfrm>
            <a:off x="762000" y="4318000"/>
            <a:ext cx="10668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200">
                <a:solidFill>
                  <a:srgbClr val="78A0DC"/>
                </a:solidFill>
              </a:rPr>
              <a:t>https://github.com/Dhruti832/CloudProject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4838E01-2093-1EA5-25CF-83DB7862A348}"/>
              </a:ext>
            </a:extLst>
          </p:cNvPr>
          <p:cNvSpPr txBox="1"/>
          <p:nvPr/>
        </p:nvSpPr>
        <p:spPr>
          <a:xfrm>
            <a:off x="762000" y="5270500"/>
            <a:ext cx="106680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sz="1300">
                <a:solidFill>
                  <a:srgbClr val="96AAC8"/>
                </a:solidFill>
              </a:rPr>
              <a:t>Dhrutiben Narendrabhai Patel  |  CSCI 5411 — Advanced Cloud Architecting  |  Summer 2026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B1F1D79-63CB-59A0-4808-61902E620FA0}"/>
              </a:ext>
            </a:extLst>
          </p:cNvPr>
          <p:cNvSpPr txBox="1"/>
          <p:nvPr/>
        </p:nvSpPr>
        <p:spPr>
          <a:xfrm>
            <a:off x="762000" y="5715000"/>
            <a:ext cx="10668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sz="1000">
                <a:solidFill>
                  <a:srgbClr val="6482AA"/>
                </a:solidFill>
              </a:rPr>
              <a:t>Lambda  •  Step Functions  •  API Gateway  •  DynamoDB  •  S3  •  Textract  •  Cognito  •  SNS  •  Secrets Manager  •  CloudWatch  •  Terraform</a:t>
            </a:r>
          </a:p>
        </p:txBody>
      </p:sp>
    </p:spTree>
    <p:extLst>
      <p:ext uri="{BB962C8B-B14F-4D97-AF65-F5344CB8AC3E}">
        <p14:creationId xmlns:p14="http://schemas.microsoft.com/office/powerpoint/2010/main" val="13922115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1803</Words>
  <Application>Microsoft Office PowerPoint</Application>
  <PresentationFormat>Custom</PresentationFormat>
  <Paragraphs>225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Dhrutiben Narendrabhai Patel</dc:creator>
  <cp:lastModifiedBy>Dhrutiben Narendrabhai Patel</cp:lastModifiedBy>
  <cp:revision>1</cp:revision>
  <dcterms:created xsi:type="dcterms:W3CDTF">2026-07-01T23:04:42Z</dcterms:created>
  <dcterms:modified xsi:type="dcterms:W3CDTF">2026-07-01T23:04:42Z</dcterms:modified>
</cp:coreProperties>
</file>