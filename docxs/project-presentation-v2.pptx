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hrutiben Narendrabhai Patel" userId="354d2828-11fe-480a-87db-1c392d26ed10" providerId="ADAL" clId="{CFE31599-482B-49F1-B641-A74F6FC1944B}"/>
    <pc:docChg chg="undo custSel modSld">
      <pc:chgData name="Dhrutiben Narendrabhai Patel" userId="354d2828-11fe-480a-87db-1c392d26ed10" providerId="ADAL" clId="{CFE31599-482B-49F1-B641-A74F6FC1944B}" dt="2026-07-04T20:55:10.723" v="8" actId="14100"/>
      <pc:docMkLst>
        <pc:docMk/>
      </pc:docMkLst>
      <pc:sldChg chg="addSp delSp modSp mod">
        <pc:chgData name="Dhrutiben Narendrabhai Patel" userId="354d2828-11fe-480a-87db-1c392d26ed10" providerId="ADAL" clId="{CFE31599-482B-49F1-B641-A74F6FC1944B}" dt="2026-07-04T20:55:10.723" v="8" actId="14100"/>
        <pc:sldMkLst>
          <pc:docMk/>
          <pc:sldMk cId="0" sldId="259"/>
        </pc:sldMkLst>
        <pc:spChg chg="add del">
          <ac:chgData name="Dhrutiben Narendrabhai Patel" userId="354d2828-11fe-480a-87db-1c392d26ed10" providerId="ADAL" clId="{CFE31599-482B-49F1-B641-A74F6FC1944B}" dt="2026-07-04T20:54:32.787" v="2" actId="22"/>
          <ac:spMkLst>
            <pc:docMk/>
            <pc:sldMk cId="0" sldId="259"/>
            <ac:spMk id="10" creationId="{E46FF497-B6FE-10F1-84AE-BF797AF85F88}"/>
          </ac:spMkLst>
        </pc:spChg>
        <pc:picChg chg="del">
          <ac:chgData name="Dhrutiben Narendrabhai Patel" userId="354d2828-11fe-480a-87db-1c392d26ed10" providerId="ADAL" clId="{CFE31599-482B-49F1-B641-A74F6FC1944B}" dt="2026-07-04T20:54:29.862" v="0" actId="478"/>
          <ac:picMkLst>
            <pc:docMk/>
            <pc:sldMk cId="0" sldId="259"/>
            <ac:picMk id="6" creationId="{00000000-0000-0000-0000-000000000000}"/>
          </ac:picMkLst>
        </pc:picChg>
        <pc:picChg chg="add mod">
          <ac:chgData name="Dhrutiben Narendrabhai Patel" userId="354d2828-11fe-480a-87db-1c392d26ed10" providerId="ADAL" clId="{CFE31599-482B-49F1-B641-A74F6FC1944B}" dt="2026-07-04T20:55:10.723" v="8" actId="14100"/>
          <ac:picMkLst>
            <pc:docMk/>
            <pc:sldMk cId="0" sldId="259"/>
            <ac:picMk id="12" creationId="{7C8D2087-0C22-0270-B4E7-CB2F98FFD7D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8566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33172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RESUME ANALYZER &amp; JOB MATCHER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3246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Serverless, Event-Driven Cloud-Native Application on AWS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3434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CSCI 5411 — Advanced Cloud Architecting  |  Summer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Dhrutiben Narendrabhai Patel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API Gateway  •  Lambda  •  Step Functions  •  Textract  •  DynamoDB  •  S3  •  SNS  •  EventBridge  •  CloudWatch  •  Terraform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80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384048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Resume Screening Doesn’t Scale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73152" cy="960120"/>
          </a:xfrm>
          <a:prstGeom prst="rect">
            <a:avLst/>
          </a:prstGeom>
          <a:solidFill>
            <a:srgbClr val="D1321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38988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Seconds, not minutes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1746504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Recruiters spend roughly 6–8 seconds scanning each resume before deciding to reject or advance it.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606040"/>
            <a:ext cx="73152" cy="960120"/>
          </a:xfrm>
          <a:prstGeom prst="rect">
            <a:avLst/>
          </a:prstGeom>
          <a:solidFill>
            <a:srgbClr val="D13212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57860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objective signal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2935224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decisions rely on subjective judgement — there is no consistent, comparable score across candidates.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73152" cy="960120"/>
          </a:xfrm>
          <a:prstGeom prst="rect">
            <a:avLst/>
          </a:prstGeom>
          <a:solidFill>
            <a:srgbClr val="D13212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76732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Silence for candidates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4123944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who are rejected get no feedback on which skills were missing or how close they were to a match.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4983480"/>
            <a:ext cx="73152" cy="960120"/>
          </a:xfrm>
          <a:prstGeom prst="rect">
            <a:avLst/>
          </a:prstGeom>
          <a:solidFill>
            <a:srgbClr val="D13212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95604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breaks the process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" y="5312664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posting can draw hundreds of resumes — far more than any team can meaningfully review by hand.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309360" y="1417320"/>
            <a:ext cx="5394960" cy="461772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16916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75120" y="205740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AI-powered, automated, serverless resume scoring.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675120" y="2880360"/>
            <a:ext cx="4663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match scores</a:t>
            </a:r>
            <a:r>
              <a:rPr lang="en-US" sz="1300" dirty="0">
                <a:solidFill>
                  <a:srgbClr val="DCE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0–100 against any job description, generated in about 90 seconds end-to-end.
</a:t>
            </a: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gap analysis</a:t>
            </a:r>
            <a:r>
              <a:rPr lang="en-US" sz="1300" dirty="0">
                <a:solidFill>
                  <a:srgbClr val="DCE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matched skills, strengths, gaps, and concrete improvement recommendations.
</a:t>
            </a: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candidate lists</a:t>
            </a:r>
            <a:r>
              <a:rPr lang="en-US" sz="1300" dirty="0">
                <a:solidFill>
                  <a:srgbClr val="DCE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recruiters see every applicant for a job pre-sorted by score, highest first.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Resume Analyzer &amp; Job Matcher  |  CSCI 5411 – Advanced Cloud Architecting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80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384048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Portals, One Serverless Pipeline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3657600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581912"/>
            <a:ext cx="32552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04088" y="1984248"/>
            <a:ext cx="32552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resume against any posted job (or a pasted description). Get an AI match score, skill gaps, strengths, and recommendations in under two minutes.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25112" y="141732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25112" y="1417320"/>
            <a:ext cx="3657600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581912"/>
            <a:ext cx="32552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Recruiter Portal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26280" y="1984248"/>
            <a:ext cx="32552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jobs, bulk-upload candidate resumes, and review a ranked leaderboard with score-distribution and top-skills charts.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47304" y="141732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47304" y="1417320"/>
            <a:ext cx="3657600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6" name="Text 14"/>
          <p:cNvSpPr/>
          <p:nvPr/>
        </p:nvSpPr>
        <p:spPr>
          <a:xfrm>
            <a:off x="8348472" y="1581912"/>
            <a:ext cx="32552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Pipeline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48472" y="1984248"/>
            <a:ext cx="32552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Textract extracts resume text; a Hugging Face LLM scores it against the job; results land in DynamoDB and trigger an SNS notification.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74904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749040"/>
            <a:ext cx="3657600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3913632"/>
            <a:ext cx="32552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Infrastructure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04088" y="4315968"/>
            <a:ext cx="32552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compute layer is Lambda or a managed AWS service — zero idle cost, and it scales automatically with load.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25112" y="374904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25112" y="3749040"/>
            <a:ext cx="3657600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4526280" y="3913632"/>
            <a:ext cx="32552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526280" y="4315968"/>
            <a:ext cx="32552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Cognito-issued JWTs on every route, role-based access for students vs. recruiters, and Secrets Manager for the one external API key.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147304" y="374904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47304" y="3749040"/>
            <a:ext cx="3657600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8348472" y="3913632"/>
            <a:ext cx="32552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CI/CD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8348472" y="4315968"/>
            <a:ext cx="32552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runs the unit test suite on every push; Terraform apply only proceeds once tests pass.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Resume Analyzer &amp; Job Matcher  |  CSCI 5411 – Advanced Cloud Architecting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80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384048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Serverless Design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Resume Analyzer &amp; Job Matcher  |  CSCI 5411 – Advanced Cloud Architecting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8D2087-0C22-0270-B4E7-CB2F98FFD7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214" y="1179576"/>
            <a:ext cx="11185071" cy="50905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80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SERVICES USED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384048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Managed Services, Zero Servers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34440"/>
          <a:ext cx="11384280" cy="52578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Service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Why It’s Here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32F3E"/>
                          </a:solidFill>
                        </a:rPr>
                        <a:t>Compute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191F"/>
                          </a:solidFill>
                        </a:rPr>
                        <a:t>AWS Lambda (Node.js 20.x)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B7B"/>
                          </a:solidFill>
                        </a:rPr>
                        <a:t>Zero idle cost, event-driven, auto-scales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32F3E"/>
                          </a:solidFill>
                        </a:rPr>
                        <a:t>Orchestration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191F"/>
                          </a:solidFill>
                        </a:rPr>
                        <a:t>AWS Step Functions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B7B"/>
                          </a:solidFill>
                        </a:rPr>
                        <a:t>Retry + Catch on every state, visual execution graph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32F3E"/>
                          </a:solidFill>
                        </a:rPr>
                        <a:t>API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191F"/>
                          </a:solidFill>
                        </a:rPr>
                        <a:t>API Gateway HTTP API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B7B"/>
                          </a:solidFill>
                        </a:rPr>
                        <a:t>JWT authorizer; ~70% cheaper than REST API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32F3E"/>
                          </a:solidFill>
                        </a:rPr>
                        <a:t>Storage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191F"/>
                          </a:solidFill>
                        </a:rPr>
                        <a:t>Amazon S3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B7B"/>
                          </a:solidFill>
                        </a:rPr>
                        <a:t>Resume upload/download, private buckets, lifecycle rules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32F3E"/>
                          </a:solidFill>
                        </a:rPr>
                        <a:t>Database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191F"/>
                          </a:solidFill>
                        </a:rPr>
                        <a:t>Amazon DynamoDB (on-demand)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B7B"/>
                          </a:solidFill>
                        </a:rPr>
                        <a:t>GSIs for pre-sorted queries, zero capacity planning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32F3E"/>
                          </a:solidFill>
                        </a:rPr>
                        <a:t>AI — OCR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191F"/>
                          </a:solidFill>
                        </a:rPr>
                        <a:t>Amazon Textract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B7B"/>
                          </a:solidFill>
                        </a:rPr>
                        <a:t>DetectDocumentText handles multi-column PDF resumes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32F3E"/>
                          </a:solidFill>
                        </a:rPr>
                        <a:t>AI — Scoring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191F"/>
                          </a:solidFill>
                        </a:rPr>
                        <a:t>Hugging Face Inference API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B7B"/>
                          </a:solidFill>
                        </a:rPr>
                        <a:t>LLM scoring (Bedrock unavailable in Learner Lab)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32F3E"/>
                          </a:solidFill>
                        </a:rPr>
                        <a:t>Auth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191F"/>
                          </a:solidFill>
                        </a:rPr>
                        <a:t>Amazon Cognito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B7B"/>
                          </a:solidFill>
                        </a:rPr>
                        <a:t>Self-registration, Hosted UI, student/recruiter groups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32F3E"/>
                          </a:solidFill>
                        </a:rPr>
                        <a:t>Secrets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191F"/>
                          </a:solidFill>
                        </a:rPr>
                        <a:t>AWS Secrets Manager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B7B"/>
                          </a:solidFill>
                        </a:rPr>
                        <a:t>HF API token — never in code or IaC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32F3E"/>
                          </a:solidFill>
                        </a:rPr>
                        <a:t>Messaging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191F"/>
                          </a:solidFill>
                        </a:rPr>
                        <a:t>Amazon SNS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B7B"/>
                          </a:solidFill>
                        </a:rPr>
                        <a:t>Completion + pipeline-error email alerts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32F3E"/>
                          </a:solidFill>
                        </a:rPr>
                        <a:t>Scheduling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191F"/>
                          </a:solidFill>
                        </a:rPr>
                        <a:t>Amazon EventBridge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B7B"/>
                          </a:solidFill>
                        </a:rPr>
                        <a:t>Daily rate(24h) rule refreshes baseline job postings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32F3E"/>
                          </a:solidFill>
                        </a:rPr>
                        <a:t>Monitoring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191F"/>
                          </a:solidFill>
                        </a:rPr>
                        <a:t>CloudWatch Alarms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B7B"/>
                          </a:solidFill>
                        </a:rPr>
                        <a:t>Lambda errors, SFN failures, DynamoDB throttles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Resume Analyzer &amp; Job Matcher  |  CSCI 5411 – Advanced Cloud Architecting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80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384048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Upload Flow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176272" cy="4663440"/>
          </a:xfrm>
          <a:prstGeom prst="roundRect">
            <a:avLst>
              <a:gd name="adj" fmla="val 2521"/>
            </a:avLst>
          </a:prstGeom>
          <a:solidFill>
            <a:srgbClr val="232F3E"/>
          </a:solidFill>
          <a:ln/>
        </p:spPr>
      </p:sp>
      <p:sp>
        <p:nvSpPr>
          <p:cNvPr id="7" name="Shape 5"/>
          <p:cNvSpPr/>
          <p:nvPr/>
        </p:nvSpPr>
        <p:spPr>
          <a:xfrm>
            <a:off x="1271016" y="1691640"/>
            <a:ext cx="548640" cy="54864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1271016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2423160"/>
            <a:ext cx="1901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Register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" y="3063240"/>
            <a:ext cx="1847088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DCE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Self-registers or logs in through Cognito; a post-confirmation Lambda assigns the students group, which drives dashboard routing.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61488" y="1417320"/>
            <a:ext cx="2176272" cy="4663440"/>
          </a:xfrm>
          <a:prstGeom prst="roundRect">
            <a:avLst>
              <a:gd name="adj" fmla="val 2521"/>
            </a:avLst>
          </a:prstGeom>
          <a:solidFill>
            <a:srgbClr val="2E4057"/>
          </a:solidFill>
          <a:ln/>
        </p:spPr>
      </p:sp>
      <p:sp>
        <p:nvSpPr>
          <p:cNvPr id="12" name="Shape 10"/>
          <p:cNvSpPr/>
          <p:nvPr/>
        </p:nvSpPr>
        <p:spPr>
          <a:xfrm>
            <a:off x="3575304" y="1691640"/>
            <a:ext cx="548640" cy="54864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3" name="Text 11"/>
          <p:cNvSpPr/>
          <p:nvPr/>
        </p:nvSpPr>
        <p:spPr>
          <a:xfrm>
            <a:off x="3575304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898648" y="2423160"/>
            <a:ext cx="1901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 Job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926080" y="3063240"/>
            <a:ext cx="1847088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DCE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from posted jobs or pastes a custom job description to score against.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65776" y="1417320"/>
            <a:ext cx="2176272" cy="4663440"/>
          </a:xfrm>
          <a:prstGeom prst="roundRect">
            <a:avLst>
              <a:gd name="adj" fmla="val 2521"/>
            </a:avLst>
          </a:prstGeom>
          <a:solidFill>
            <a:srgbClr val="232F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879592" y="1691640"/>
            <a:ext cx="548640" cy="54864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8" name="Text 16"/>
          <p:cNvSpPr/>
          <p:nvPr/>
        </p:nvSpPr>
        <p:spPr>
          <a:xfrm>
            <a:off x="5879592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202936" y="2423160"/>
            <a:ext cx="1901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Resume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30368" y="3063240"/>
            <a:ext cx="1847088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DCE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PUTs the PDF directly to S3 via a presigned URL — no Lambda payload limit. DynamoDB is seeded with status=pending.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70064" y="1417320"/>
            <a:ext cx="2176272" cy="4663440"/>
          </a:xfrm>
          <a:prstGeom prst="roundRect">
            <a:avLst>
              <a:gd name="adj" fmla="val 2521"/>
            </a:avLst>
          </a:prstGeom>
          <a:solidFill>
            <a:srgbClr val="2E4057"/>
          </a:solidFill>
          <a:ln/>
        </p:spPr>
      </p:sp>
      <p:sp>
        <p:nvSpPr>
          <p:cNvPr id="22" name="Shape 20"/>
          <p:cNvSpPr/>
          <p:nvPr/>
        </p:nvSpPr>
        <p:spPr>
          <a:xfrm>
            <a:off x="8183880" y="1691640"/>
            <a:ext cx="548640" cy="54864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3" name="Text 21"/>
          <p:cNvSpPr/>
          <p:nvPr/>
        </p:nvSpPr>
        <p:spPr>
          <a:xfrm>
            <a:off x="818388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507224" y="2423160"/>
            <a:ext cx="1901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Pipeline Runs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534656" y="3063240"/>
            <a:ext cx="1847088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DCE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event triggers ingestUpload → Step Functions: Textract extracts text → Hugging Face LLM scores it → SNS email sent.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674352" y="1417320"/>
            <a:ext cx="2176272" cy="4663440"/>
          </a:xfrm>
          <a:prstGeom prst="roundRect">
            <a:avLst>
              <a:gd name="adj" fmla="val 2521"/>
            </a:avLst>
          </a:prstGeom>
          <a:solidFill>
            <a:srgbClr val="232F3E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88168" y="1691640"/>
            <a:ext cx="548640" cy="54864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10488168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9811512" y="2423160"/>
            <a:ext cx="1901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Results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838944" y="3063240"/>
            <a:ext cx="1847088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DCE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polls every 5s. Score (0–100), matched skills, strengths, gaps, and recommendations are displayed, with resume re-download available.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Resume Analyzer &amp; Job Matcher  |  CSCI 5411 – Advanced Cloud Architecting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80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RECRUITER PORTAL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384048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Post, Rank, and Review Candidates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400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46304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Job Openings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1856232"/>
            <a:ext cx="5074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jobs with title, description, required skills, and location — immediately available for student uploads.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6400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46304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Resume Upload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46520" y="1856232"/>
            <a:ext cx="5074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Drag-and-drop multiple PDFs; each independently triggers the same AI pipeline via an S3 event.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971800"/>
            <a:ext cx="6400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01752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Candidate View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3410712"/>
            <a:ext cx="5074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sorted by match score via a DynamoDB GSI (jobId-matchScore-index) — no app-level sorting needed.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971800"/>
            <a:ext cx="6400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6" name="Text 14"/>
          <p:cNvSpPr/>
          <p:nvPr/>
        </p:nvSpPr>
        <p:spPr>
          <a:xfrm>
            <a:off x="6446520" y="301752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Analytics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46520" y="3410712"/>
            <a:ext cx="5074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Score-distribution and top-skills charts (Chart.js), plus stat cards: total, average, top score, strong matches ≥70.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4526280"/>
            <a:ext cx="6400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57200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Enforcement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4965192"/>
            <a:ext cx="5074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recruiter only sees results for jobs they created; the Lambda checks ownerId against the JWT sub and returns 403 otherwise.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4526280"/>
            <a:ext cx="64008" cy="13716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457200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Download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46520" y="4965192"/>
            <a:ext cx="5074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ranked result includes a presigned S3 GET URL — direct, secure download of the original candidate PDF.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Resume Analyzer &amp; Job Matcher  |  CSCI 5411 – Advanced Cloud Architecting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80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ANALYSIS PIPELINE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384048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— Retry + Catch on Every State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7589520" cy="868680"/>
          </a:xfrm>
          <a:prstGeom prst="roundRect">
            <a:avLst>
              <a:gd name="adj" fmla="val 5263"/>
            </a:avLst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44475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Upload Trigger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75564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7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PutObject event → ingestUpload Lambda → StartExecution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60520" y="224028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2468880"/>
            <a:ext cx="7589520" cy="868680"/>
          </a:xfrm>
          <a:prstGeom prst="roundRect">
            <a:avLst>
              <a:gd name="adj" fmla="val 5263"/>
            </a:avLst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54203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ExtractTextStep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85292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7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Textract DetectDocumentText extracts raw resume text. Retry: 2x, 2s backoff.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60520" y="333756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566160"/>
            <a:ext cx="7589520" cy="868680"/>
          </a:xfrm>
          <a:prstGeom prst="roundRect">
            <a:avLst>
              <a:gd name="adj" fmla="val 5263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63931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ParseAndScoreStep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395020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7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LLM scores resume vs. job → matchScore, skills, strengths, gaps, recommendations.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60520" y="443484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920" y="4663440"/>
            <a:ext cx="7589520" cy="868680"/>
          </a:xfrm>
          <a:prstGeom prst="roundRect">
            <a:avLst>
              <a:gd name="adj" fmla="val 5263"/>
            </a:avLst>
          </a:prstGeom>
          <a:solidFill>
            <a:srgbClr val="1D8102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73659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NotifyResultStep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50474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7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email sent to the candidate with score and summary.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412480" y="1371600"/>
            <a:ext cx="3291840" cy="2148840"/>
          </a:xfrm>
          <a:prstGeom prst="roundRect">
            <a:avLst>
              <a:gd name="adj" fmla="val 2128"/>
            </a:avLst>
          </a:prstGeom>
          <a:solidFill>
            <a:srgbClr val="D13212"/>
          </a:solidFill>
          <a:ln/>
        </p:spPr>
      </p:sp>
      <p:sp>
        <p:nvSpPr>
          <p:cNvPr id="22" name="Text 20"/>
          <p:cNvSpPr/>
          <p:nvPr/>
        </p:nvSpPr>
        <p:spPr>
          <a:xfrm>
            <a:off x="8595360" y="148132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Any Catch: States.ALL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0" y="182880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MarkFailedStep</a:t>
            </a:r>
            <a:r>
              <a:rPr lang="en-US" sz="1050" dirty="0">
                <a:solidFill>
                  <a:srgbClr val="FB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direct DynamoDB UpdateItem sets status=failed (no Lambda).
</a:t>
            </a: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NotifyErrorStep</a:t>
            </a:r>
            <a:r>
              <a:rPr lang="en-US" sz="1050" dirty="0">
                <a:solidFill>
                  <a:srgbClr val="FB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direct SNS Publish alerts the operator.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2920" y="5623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Workflow — every Task state carries its own Retry and Catch block; failures never leave a record stuck in "pending."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Resume Analyzer &amp; Job Matcher  |  CSCI 5411 – Advanced Cloud Architecting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80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FLOWS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384048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Job Posting, Download &amp; Refresh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5486400" cy="2331720"/>
          </a:xfrm>
          <a:prstGeom prst="rect">
            <a:avLst/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pic>
        <p:nvPicPr>
          <p:cNvPr id="7" name="Image 0" descr="c:\Users\patel\OneDrive - Dalhousie University\Desktop\Classwork\Sem 2\Adv Cloud\Project\docxs\diagrams\sequence-registra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0" y="1417320"/>
            <a:ext cx="5303520" cy="1645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090672"/>
            <a:ext cx="52120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Self-registration assigns a Cognito group (students/recruiters) via a post-confirmation Lambda — driving all later authorization.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263640" y="1325880"/>
            <a:ext cx="5486400" cy="2331720"/>
          </a:xfrm>
          <a:prstGeom prst="rect">
            <a:avLst/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pic>
        <p:nvPicPr>
          <p:cNvPr id="10" name="Image 1" descr="c:\Users\patel\OneDrive - Dalhousie University\Desktop\Classwork\Sem 2\Adv Cloud\Project\docxs\diagrams\sequence-job-posting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55080" y="1417320"/>
            <a:ext cx="5303520" cy="1645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00800" y="3090672"/>
            <a:ext cx="52120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Recruiters create jobs through a JWT-authorized route; the Lambda re-checks the recruiters group before writing to JobsTable.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502920" y="3886200"/>
            <a:ext cx="5486400" cy="2331720"/>
          </a:xfrm>
          <a:prstGeom prst="rect">
            <a:avLst/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pic>
        <p:nvPicPr>
          <p:cNvPr id="13" name="Image 2" descr="c:\Users\patel\OneDrive - Dalhousie University\Desktop\Classwork\Sem 2\Adv Cloud\Project\docxs\diagrams\sequence-downloa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4360" y="3977640"/>
            <a:ext cx="5303520" cy="1645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0080" y="5650992"/>
            <a:ext cx="52120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downloads resolve to a 10-minute presigned S3 GET URL — the file itself never passes through API Gateway or Lambda.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6263640" y="3886200"/>
            <a:ext cx="5486400" cy="2331720"/>
          </a:xfrm>
          <a:prstGeom prst="rect">
            <a:avLst/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pic>
        <p:nvPicPr>
          <p:cNvPr id="16" name="Image 3" descr="c:\Users\patel\OneDrive - Dalhousie University\Desktop\Classwork\Sem 2\Adv Cloud\Project\docxs\diagrams\sequence-refresh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55080" y="3977640"/>
            <a:ext cx="5303520" cy="16459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400800" y="5650992"/>
            <a:ext cx="52120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EventBridge rule invokes refreshJobs every 24 hours to reseed baseline postings, independent of live recruiter-created jobs.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Resume Analyzer &amp; Job Matcher  |  CSCI 5411 – Advanced Cloud Architecting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80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384048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— On-Demand, GSI-Driven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5486400" cy="4892040"/>
          </a:xfrm>
          <a:prstGeom prst="roundRect">
            <a:avLst>
              <a:gd name="adj" fmla="val 935"/>
            </a:avLst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32588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371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ResultsTable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candidateId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154680" y="1920240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— Cognito sub or bulk-upload UUID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222199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resumeId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154680" y="2221992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 — UUID per upload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252374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userId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154680" y="2523744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sub of uploader (ownership)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" y="282549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jobId / jobTitle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54680" y="2825496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+ denormalized title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12724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154680" y="3127248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| completed | failed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342900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matchScore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154680" y="3429000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0–100 from the LLM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373075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 / strengths / gaps / recommendations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154680" y="3730752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output arrays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1520" y="403250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s3Key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154680" y="4032504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PDF location in S3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" y="43342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154680" y="4334256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8601 timestamp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31520" y="4727448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GSI 1: userId-createdAt-index — student history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GSI 2: jobId-matchScore-index — recruiter ranking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263640" y="1325880"/>
            <a:ext cx="5486400" cy="4892040"/>
          </a:xfrm>
          <a:prstGeom prst="roundRect">
            <a:avLst>
              <a:gd name="adj" fmla="val 935"/>
            </a:avLst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63640" y="132588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1371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JobsTable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492240" y="192024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jobId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915400" y="1920240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— recruiter-provided unique ID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92240" y="222199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 / description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915400" y="2221992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 content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92240" y="252374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requiredSkills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915400" y="2523744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of required skills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92240" y="282549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location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915400" y="2825496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to "Remote"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312724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ownerId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8915400" y="3127248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sub of creating recruiter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92240" y="342900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915400" y="3429000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8601 timestamp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92240" y="3822192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nightly by refreshJobs (EventBridge, rate(24h)) alongside live recruiter postings.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Resume Analyzer &amp; Job Matcher  |  CSCI 5411 – Advanced Cloud Architecting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80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WELL-ARCHITECTED FRAMEWORK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384048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Pillars Addressed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232F3E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417320"/>
            <a:ext cx="3657600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563624"/>
            <a:ext cx="325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Excellence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04088" y="2075688"/>
            <a:ext cx="325526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7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alarms on every Lambda + Step Functions + DynamoDB; Step Functions ERROR-level logging; CI/CD test gate before every deploy.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25112" y="141732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232F3E"/>
          </a:solidFill>
          <a:ln/>
        </p:spPr>
      </p:sp>
      <p:sp>
        <p:nvSpPr>
          <p:cNvPr id="11" name="Shape 9"/>
          <p:cNvSpPr/>
          <p:nvPr/>
        </p:nvSpPr>
        <p:spPr>
          <a:xfrm>
            <a:off x="4325112" y="1417320"/>
            <a:ext cx="3657600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563624"/>
            <a:ext cx="325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26280" y="2075688"/>
            <a:ext cx="325526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7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JWT on every route; role-based access (students/recruiters); Secrets Manager for the HF token; security headers on all responses.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47304" y="141732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232F3E"/>
          </a:solidFill>
          <a:ln/>
        </p:spPr>
      </p:sp>
      <p:sp>
        <p:nvSpPr>
          <p:cNvPr id="15" name="Shape 13"/>
          <p:cNvSpPr/>
          <p:nvPr/>
        </p:nvSpPr>
        <p:spPr>
          <a:xfrm>
            <a:off x="8147304" y="1417320"/>
            <a:ext cx="3657600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6" name="Text 14"/>
          <p:cNvSpPr/>
          <p:nvPr/>
        </p:nvSpPr>
        <p:spPr>
          <a:xfrm>
            <a:off x="8348472" y="1563624"/>
            <a:ext cx="325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348472" y="2075688"/>
            <a:ext cx="325526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7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(2x) + Catch on every Step Functions state; S3 versioning; DynamoDB on-demand capacity (no throttling); multi-AZ by default.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374904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232F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02920" y="3749040"/>
            <a:ext cx="3657600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3895344"/>
            <a:ext cx="325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Efficiency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04088" y="4407408"/>
            <a:ext cx="325526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7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Presigned S3 URLs bypass Lambda for uploads/downloads; DynamoDB GSIs pre-sort results; the analysis pipeline runs fully async.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25112" y="374904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232F3E"/>
          </a:solidFill>
          <a:ln/>
        </p:spPr>
      </p:sp>
      <p:sp>
        <p:nvSpPr>
          <p:cNvPr id="23" name="Shape 21"/>
          <p:cNvSpPr/>
          <p:nvPr/>
        </p:nvSpPr>
        <p:spPr>
          <a:xfrm>
            <a:off x="4325112" y="3749040"/>
            <a:ext cx="3657600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4526280" y="3895344"/>
            <a:ext cx="325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Optimization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26280" y="4407408"/>
            <a:ext cx="325526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7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end-to-end — zero idle cost; S3 lifecycle rules; API Gateway throttling caps runaway usage.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147304" y="374904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232F3E"/>
          </a:solidFill>
          <a:ln/>
        </p:spPr>
      </p:sp>
      <p:sp>
        <p:nvSpPr>
          <p:cNvPr id="27" name="Shape 25"/>
          <p:cNvSpPr/>
          <p:nvPr/>
        </p:nvSpPr>
        <p:spPr>
          <a:xfrm>
            <a:off x="8147304" y="3749040"/>
            <a:ext cx="3657600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8348472" y="3895344"/>
            <a:ext cx="325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48472" y="4407408"/>
            <a:ext cx="325526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7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always-on servers; scales to zero at zero load; S3 lifecycle deletes stale versions automatically.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Resume Analyzer &amp; Job Matcher  |  CSCI 5411 – Advanced Cloud Architecting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80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384048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— Every Push to main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5394960" cy="4480560"/>
          </a:xfrm>
          <a:prstGeom prst="roundRect">
            <a:avLst>
              <a:gd name="adj" fmla="val 1020"/>
            </a:avLst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371600"/>
            <a:ext cx="5394960" cy="50292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3560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1 — Unit Tests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4937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Checkout code
▶  Setup Node.js 22
▶  npm ci  (install Jest + AWS SDK mocks)
▶  npm test  — 71 tests must pass
</a:t>
            </a:r>
            <a:r>
              <a:rPr lang="en-US" sz="1250" b="1" dirty="0">
                <a:solidFill>
                  <a:srgbClr val="D13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 FAIL blocks the deploy job entirely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394960" cy="4480560"/>
          </a:xfrm>
          <a:prstGeom prst="roundRect">
            <a:avLst>
              <a:gd name="adj" fmla="val 1020"/>
            </a:avLst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3640" y="1371600"/>
            <a:ext cx="5394960" cy="50292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43560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2 — Terraform Apply (needs: test)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1965960"/>
            <a:ext cx="4937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Configure AWS credentials from secrets
▶  npm ci in lambdas/queryApi
▶  terraform init + validate
▶  terraform plan  (log changes)
▶  terraform apply -auto-approve
▶  Print live API + frontend outputs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secrets: AWS_ACCESS_KEY_ID  ·  AWS_SECRET_ACCESS_KEY  ·  AWS_SESSION_TOKEN  ·  DEMO_USER_PASSWORD  ·  HF_TOKEN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Resume Analyzer &amp; Job Matcher  |  CSCI 5411 – Advanced Cloud Architecting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80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384048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Tests Across 6 Lambda Handlers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393192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60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File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Tests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Coverage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32F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createUploadUrl.test.js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191F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B7B"/>
                          </a:solidFill>
                        </a:rPr>
                        <a:t>Presigned URL shape, jobId fallback, status seed, S3 key format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32F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createJob.test.js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191F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B7B"/>
                          </a:solidFill>
                        </a:rPr>
                        <a:t>403 non-recruiter, 400 missing fields, 201 success, ownerId from JWT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32F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parseScore.test.js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191F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B7B"/>
                          </a:solidFill>
                        </a:rPr>
                        <a:t>JSON extraction, markdown-fence strip, completed write, error paths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32F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getRankedResults.test.js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191F"/>
                          </a:solidFill>
                        </a:rPr>
                        <a:t>14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B7B"/>
                          </a:solidFill>
                        </a:rPr>
                        <a:t>403 auth, 404 job not found, 200 ranked list, download URL, pagination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32F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queryApi.test.js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191F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B7B"/>
                          </a:solidFill>
                        </a:rPr>
                        <a:t>GET /jobs, /results, /my-results, 404 unknown route, auth checks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32F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ingestUpload.test.js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6191F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B7B"/>
                          </a:solidFill>
                        </a:rPr>
                        <a:t>4-segment key parse, legacy fallback, multi-record, URL decode</a:t>
                      </a:r>
                      <a:endParaRPr lang="en-US" sz="1050" dirty="0"/>
                    </a:p>
                  </a:txBody>
                  <a:tcPr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532120"/>
            <a:ext cx="11201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Tooling: aws-sdk-client-mock v4  ·  Jest moduleNameMapper forces every @aws-sdk/* import to the root node_modules  ·  no AWS credentials required to run the suite.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Resume Analyzer &amp; Job Matcher  |  CSCI 5411 – Advanced Cloud Architecting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80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384048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Learner Lab Constraints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5440680" cy="411480"/>
          </a:xfrm>
          <a:prstGeom prst="rect">
            <a:avLst/>
          </a:prstGeom>
          <a:solidFill>
            <a:srgbClr val="D1321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26464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1920240"/>
            <a:ext cx="5074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No per-Lambda IAM roles — LabRole blocks CreateRole; one shared, over-permissioned role.
⚠  No AWS WAF — WAF integration requires a REST API; this project uses an HTTP API.
⚠  External AI API (Hugging Face) — Bedrock is unavailable in the Learner Lab.
⚠  No CloudFront CDN — CreateDistribution is blocked by the LabRole policy.
⚠  No X-Ray tracing — xray:PutTraceSegments is blocked by the LabRole policy.
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1371600"/>
            <a:ext cx="5440680" cy="411480"/>
          </a:xfrm>
          <a:prstGeom prst="rect">
            <a:avLst/>
          </a:prstGeom>
          <a:solidFill>
            <a:srgbClr val="1D8102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426464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1920240"/>
            <a:ext cx="51206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Migrate AI scoring to Amazon Bedrock (Claude 3 Haiku) — remove the external dependency.
→  WebSocket API for real-time notifications, replacing the 5-second polling loop.
→  Resume versioning — track score improvement across multiple uploads.
→  Multi-region active-passive with DynamoDB Global Tables + Route 53 failover.
→  DynamoDB PITR, WAF, and per-Lambda execution roles for production hardening.
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Resume Analyzer &amp; Job Matcher  |  CSCI 5411 – Advanced Cloud Architecting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80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ACHIEVEMENTS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384048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27048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Resources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267919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provisioned via Terraform — one command deploys everything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5112" y="141732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7992" y="1527048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507992" y="2286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53712" y="267919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Lambda business logic covered; tests gate every CI deploy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47304" y="141732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30184" y="1527048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330184" y="2286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Well-Architected Pillars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375904" y="267919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AWS Well-Architected Framework pillars addressed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374904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858768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85800" y="46177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Cost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31520" y="501091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serverless — zero cost when no users are active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25112" y="374904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07992" y="3858768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&lt;3s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4507992" y="46177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Time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53712" y="501091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Presigned S3 URL bypasses Lambda — direct browser-to-S3 upload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147304" y="374904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2F3F3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30184" y="3858768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~90s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8330184" y="46177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Analysis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75904" y="501091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Textract OCR + LLM scoring + DynamoDB write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Resume Analyzer &amp; Job Matcher  |  CSCI 5411 – Advanced Cloud Architecting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65960"/>
            <a:ext cx="12191695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515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1783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971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https://2ftfx5av88.execute-api.us-east-1.amazonaws.com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886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https://github.com/Dhruti832/CloudProject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58064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Dhrutiben Narendrabhai Patel  |  CSCI 5411 — Advanced Cloud Architecting  |  Summer 2026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1722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• API Gateway • Lambda • Step Functions • Textract • DynamoDB • S3 • SNS • EventBridge • Secrets Manager • CloudWatch • Terraform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2162</Words>
  <Application>Microsoft Office PowerPoint</Application>
  <PresentationFormat>Widescreen</PresentationFormat>
  <Paragraphs>288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Resume Analyzer &amp; Job Matcher</dc:title>
  <dc:subject>PptxGenJS Presentation</dc:subject>
  <dc:creator>Dhrutiben Narendrabhai Patel</dc:creator>
  <cp:lastModifiedBy>Dhrutiben Narendrabhai Patel</cp:lastModifiedBy>
  <cp:revision>1</cp:revision>
  <dcterms:created xsi:type="dcterms:W3CDTF">2026-07-04T18:25:27Z</dcterms:created>
  <dcterms:modified xsi:type="dcterms:W3CDTF">2026-07-04T20:55:16Z</dcterms:modified>
</cp:coreProperties>
</file>